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55fba3-ddcc-c698-b0cf-c80b9bbc2ed7}">
          <p14:sldIdLst>
            <p14:sldId id="256"/>
          </p14:sldIdLst>
        </p14:section>
        <p14:section name="Problem Statement" id="{8620c0b2-f6bf-dd26-4754-7477f2aaf20b}">
          <p14:sldIdLst>
            <p14:sldId id="257"/>
          </p14:sldIdLst>
        </p14:section>
        <p14:section name="Dataset" id="{34e31769-b96b-9c47-f842-256697f580e9}">
          <p14:sldIdLst>
            <p14:sldId id="258"/>
          </p14:sldIdLst>
        </p14:section>
        <p14:section name="Data Understanding &amp; Preprocessing" id="{104b19c7-79b3-5c27-66d1-e4d88498ff98}">
          <p14:sldIdLst>
            <p14:sldId id="259"/>
            <p14:sldId id="260"/>
            <p14:sldId id="261"/>
          </p14:sldIdLst>
        </p14:section>
        <p14:section name="Predictive Modelling" id="{79f66c4b-8a75-3543-4abb-e46f7d40d999}">
          <p14:sldIdLst>
            <p14:sldId id="262"/>
            <p14:sldId id="263"/>
          </p14:sldIdLst>
        </p14:section>
        <p14:section name="Evaluation" id="{e7280b09-8838-c781-a999-4cbc3e2ee11f}">
          <p14:sldIdLst>
            <p14:sldId id="264"/>
          </p14:sldIdLst>
        </p14:section>
        <p14:section name="Results &amp; Interpretation" id="{5fa6623e-b0e0-bf1d-9adb-06b7ab4c6b80}">
          <p14:sldIdLst>
            <p14:sldId id="265"/>
            <p14:sldId id="266"/>
          </p14:sldIdLst>
        </p14:section>
        <p14:section name="Conclusion" id="{ec5e1b55-548f-40c3-c453-3e9377f4830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predicting how many users per day an EV charging station will get, using the KDD process taught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business question. The target is average users per day, so this is a regression problem. Success means beating a simple baseline that always predicts the average, otherwise the model adds no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5,000 stations worldwide and 17 columns. Group them: location, hardware, service and usage. The target is average users per day. It is complete: no missing values or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spread evenly between 10 and 100 users per day. The heatmap shows all correlations with usage are near zero. This is the first sign that the features may not predict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missing values, I checked the data against domain knowledge. AC Level 1 chargers cannot deliver 350 kW, and fast charging normally costs more. Together with placeholder addresses, this suggests the data was randomly generated. I recorded this as a key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transformation steps: remove columns with no predictive meaning, create Station Age, one-hot encode the categorical columns to get 32 features, split 80/20, and scale. The scaler is fitted on training data only to avoid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four algorithms from simple to flexible: linear, distance-based, rule-based, and an ensemble. If even Random Forest cannot beat the baseline, the problem is the data, not the model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is trained on the same 4,000 scaled training rows and tested on the same 1,000 unseen rows. The tree models have depth limits to reduce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metrics briefly. Then the table: Random Forest has the lowest error, but the baseline is almost identical. KNN and the Decision Tree are slightly worse than the baseline because they fit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bars are almost the same height: every model is within about half a user per day of the baseline. In the scatter plot, predictions form a flat band at about 55. The model is effectively predicting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should not be over-read: when the model is no better than the baseline, importances only show which columns the trees split on. Everything points to the data: the attributes are random, so no algorithm could find a pattern. KDD worked as intended by exposing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every KDD stage was applied. No model beat the baseline, because the data appears to be randomly generated. The key lesson is that better data, not a more complex algorithm, is needed. The same pipeline can be reused on real data.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Predicting EV Charging Station Demand  ·  Vladlen Rebello</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backing"/>
          <p:cNvSpPr/>
          <p:nvPr/>
        </p:nvSpPr>
        <p:spPr>
          <a:xfrm>
            <a:off x="548640" y="548640"/>
            <a:ext cx="1828800" cy="2057400"/>
          </a:xfrm>
          <a:prstGeom prst="roundRect">
            <a:avLst>
              <a:gd name="adj" fmla="val 7500"/>
            </a:avLst>
          </a:prstGeom>
          <a:solidFill>
            <a:schemeClr val="bg1"/>
          </a:solidFill>
          <a:ln/>
        </p:spPr>
      </p:sp>
      <p:pic>
        <p:nvPicPr>
          <p:cNvPr id="3" name="SIT logo" descr="/private/tmp/claude-501/-Users-vlad-Downloads-PA-CA-3/f5d5aa73-7ad0-488b-846d-2135acd18887/scratchpad/deck/img/sit_logo.jpg">    </p:cNvPr>
          <p:cNvPicPr>
            <a:picLocks noChangeAspect="1"/>
          </p:cNvPicPr>
          <p:nvPr/>
        </p:nvPicPr>
        <p:blipFill>
          <a:blip r:embed="rId1"/>
          <a:stretch>
            <a:fillRect/>
          </a:stretch>
        </p:blipFill>
        <p:spPr>
          <a:xfrm>
            <a:off x="713232" y="658368"/>
            <a:ext cx="1499616" cy="1755648"/>
          </a:xfrm>
          <a:prstGeom prst="rect">
            <a:avLst/>
          </a:prstGeom>
        </p:spPr>
      </p:pic>
      <p:sp>
        <p:nvSpPr>
          <p:cNvPr id="4" name="Text 1"/>
          <p:cNvSpPr txBox="1"/>
          <p:nvPr/>
        </p:nvSpPr>
        <p:spPr>
          <a:xfrm>
            <a:off x="2697480" y="868680"/>
            <a:ext cx="8686800" cy="411480"/>
          </a:xfrm>
          <a:prstGeom prst="rect">
            <a:avLst/>
          </a:prstGeom>
          <a:noFill/>
          <a:ln/>
        </p:spPr>
        <p:txBody>
          <a:bodyPr wrap="square" lIns="0" tIns="0" rIns="0" bIns="0" rtlCol="0" anchor="ctr"/>
          <a:lstStyle/>
          <a:p>
            <a:pPr indent="0" marL="0">
              <a:buNone/>
            </a:pPr>
            <a:r>
              <a:rPr lang="en-US" sz="1800" b="1" spc="200" kern="0" dirty="0">
                <a:solidFill>
                  <a:schemeClr val="accent4"/>
                </a:solidFill>
              </a:rPr>
              <a:t>SYMBIOSIS INSTITUTE OF TECHNOLOGY, NAGPUR</a:t>
            </a:r>
            <a:endParaRPr lang="en-US" sz="1800" dirty="0"/>
          </a:p>
        </p:txBody>
      </p:sp>
      <p:sp>
        <p:nvSpPr>
          <p:cNvPr id="5" name="Text 2"/>
          <p:cNvSpPr txBox="1"/>
          <p:nvPr/>
        </p:nvSpPr>
        <p:spPr>
          <a:xfrm>
            <a:off x="2697480" y="1325880"/>
            <a:ext cx="8686800" cy="365760"/>
          </a:xfrm>
          <a:prstGeom prst="rect">
            <a:avLst/>
          </a:prstGeom>
          <a:noFill/>
          <a:ln/>
        </p:spPr>
        <p:txBody>
          <a:bodyPr wrap="square" lIns="0" tIns="0" rIns="0" bIns="0" rtlCol="0" anchor="ctr"/>
          <a:lstStyle/>
          <a:p>
            <a:pPr indent="0" marL="0">
              <a:buNone/>
            </a:pPr>
            <a:r>
              <a:rPr lang="en-US" sz="1600" dirty="0">
                <a:solidFill>
                  <a:schemeClr val="bg1"/>
                </a:solidFill>
              </a:rPr>
              <a:t>Predictive Analytics  ·  CA3 — End-to-End Predictive Model Development</a:t>
            </a:r>
            <a:endParaRPr lang="en-US" sz="1600" dirty="0"/>
          </a:p>
        </p:txBody>
      </p:sp>
      <p:sp>
        <p:nvSpPr>
          <p:cNvPr id="6" name="Text 3"/>
          <p:cNvSpPr txBox="1"/>
          <p:nvPr/>
        </p:nvSpPr>
        <p:spPr>
          <a:xfrm>
            <a:off x="548640" y="3017520"/>
            <a:ext cx="11064240" cy="9144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Predicting EV Charging Station Demand</a:t>
            </a:r>
            <a:endParaRPr lang="en-US" sz="4400" dirty="0"/>
          </a:p>
        </p:txBody>
      </p:sp>
      <p:sp>
        <p:nvSpPr>
          <p:cNvPr id="7" name="Text 4"/>
          <p:cNvSpPr txBox="1"/>
          <p:nvPr/>
        </p:nvSpPr>
        <p:spPr>
          <a:xfrm>
            <a:off x="548640" y="3931920"/>
            <a:ext cx="11064240" cy="457200"/>
          </a:xfrm>
          <a:prstGeom prst="rect">
            <a:avLst/>
          </a:prstGeom>
          <a:noFill/>
          <a:ln/>
        </p:spPr>
        <p:txBody>
          <a:bodyPr wrap="square" lIns="0" tIns="0" rIns="0" bIns="0" rtlCol="0" anchor="ctr"/>
          <a:lstStyle/>
          <a:p>
            <a:pPr indent="0" marL="0">
              <a:buNone/>
            </a:pPr>
            <a:r>
              <a:rPr lang="en-US" sz="2000" i="1" dirty="0">
                <a:solidFill>
                  <a:schemeClr val="accent1"/>
                </a:solidFill>
              </a:rPr>
              <a:t>Applying the KDD process to estimate average daily users per station</a:t>
            </a:r>
            <a:endParaRPr lang="en-US" sz="2000" dirty="0"/>
          </a:p>
        </p:txBody>
      </p:sp>
      <p:sp>
        <p:nvSpPr>
          <p:cNvPr id="8" name="Text 5"/>
          <p:cNvSpPr txBox="1"/>
          <p:nvPr/>
        </p:nvSpPr>
        <p:spPr>
          <a:xfrm>
            <a:off x="548640" y="4892040"/>
            <a:ext cx="8229600" cy="137160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Vladlen Rebello</a:t>
            </a:r>
            <a:endParaRPr lang="en-US" sz="1600" dirty="0"/>
          </a:p>
          <a:p>
            <a:pPr indent="0" marL="0">
              <a:spcAft>
                <a:spcPts val="400"/>
              </a:spcAft>
              <a:buNone/>
            </a:pPr>
            <a:r>
              <a:rPr lang="en-US" sz="1600" dirty="0">
                <a:solidFill>
                  <a:schemeClr val="bg1"/>
                </a:solidFill>
              </a:rPr>
              <a:t>PRN: 23070521170</a:t>
            </a:r>
            <a:endParaRPr lang="en-US" sz="1600" dirty="0"/>
          </a:p>
          <a:p>
            <a:pPr indent="0" marL="0">
              <a:spcAft>
                <a:spcPts val="400"/>
              </a:spcAft>
              <a:buNone/>
            </a:pPr>
            <a:r>
              <a:rPr lang="en-US" sz="1600" dirty="0">
                <a:solidFill>
                  <a:schemeClr val="bg1"/>
                </a:solidFill>
              </a:rPr>
              <a:t>Faculty: Deepak Suresh Asudani, Ph.D, Assistant Professor</a:t>
            </a:r>
            <a:endParaRPr lang="en-US" sz="1600" dirty="0"/>
          </a:p>
          <a:p>
            <a:pPr indent="0" marL="0">
              <a:spcAft>
                <a:spcPts val="400"/>
              </a:spcAft>
              <a:buNone/>
            </a:pPr>
            <a:r>
              <a:rPr lang="en-US" sz="1600" dirty="0">
                <a:solidFill>
                  <a:schemeClr val="bg1"/>
                </a:solidFill>
              </a:rPr>
              <a:t>Computer Science and Engineering  ·  Batch 2023-27  ·  Semester 7</a:t>
            </a:r>
            <a:endParaRPr lang="en-US" sz="1600" dirty="0"/>
          </a:p>
        </p:txBody>
      </p:sp>
      <p:pic>
        <p:nvPicPr>
          <p:cNvPr id="9" name="EV icon" descr="preencoded.png">    </p:cNvPr>
          <p:cNvPicPr>
            <a:picLocks noChangeAspect="1"/>
          </p:cNvPicPr>
          <p:nvPr/>
        </p:nvPicPr>
        <p:blipFill>
          <a:blip r:embed="rId2"/>
          <a:stretch>
            <a:fillRect/>
          </a:stretch>
        </p:blipFill>
        <p:spPr>
          <a:xfrm>
            <a:off x="9692640" y="4526280"/>
            <a:ext cx="18288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Problem Statement</a:t>
            </a:r>
            <a:endParaRPr lang="en-US" sz="3400" dirty="0"/>
          </a:p>
        </p:txBody>
      </p:sp>
      <p:sp>
        <p:nvSpPr>
          <p:cNvPr id="3" name="Text 1"/>
          <p:cNvSpPr txBox="1"/>
          <p:nvPr/>
        </p:nvSpPr>
        <p:spPr>
          <a:xfrm>
            <a:off x="548640" y="1371600"/>
            <a:ext cx="5120640" cy="1463040"/>
          </a:xfrm>
          <a:prstGeom prst="rect">
            <a:avLst/>
          </a:prstGeom>
          <a:noFill/>
          <a:ln/>
        </p:spPr>
        <p:txBody>
          <a:bodyPr wrap="square" lIns="0" tIns="0" rIns="0" bIns="0" rtlCol="0" anchor="t"/>
          <a:lstStyle/>
          <a:p>
            <a:pPr indent="0" marL="0">
              <a:buNone/>
            </a:pPr>
            <a:r>
              <a:rPr lang="en-US" sz="2400" i="1" dirty="0">
                <a:solidFill>
                  <a:schemeClr val="tx2"/>
                </a:solidFill>
                <a:latin typeface="Cambria" pitchFamily="34" charset="0"/>
                <a:ea typeface="Cambria" pitchFamily="34" charset="-122"/>
                <a:cs typeface="Cambria" pitchFamily="34" charset="-120"/>
              </a:rPr>
              <a:t>Can we predict how busy an EV charging station will be from its location, configuration and pricing?</a:t>
            </a:r>
            <a:endParaRPr lang="en-US" sz="2400" dirty="0"/>
          </a:p>
        </p:txBody>
      </p:sp>
      <p:sp>
        <p:nvSpPr>
          <p:cNvPr id="4" name="Text 2"/>
          <p:cNvSpPr txBox="1"/>
          <p:nvPr/>
        </p:nvSpPr>
        <p:spPr>
          <a:xfrm>
            <a:off x="548640" y="3063240"/>
            <a:ext cx="5120640" cy="292608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Why it matters</a:t>
            </a:r>
            <a:endParaRPr lang="en-US" sz="1600" dirty="0"/>
          </a:p>
          <a:p>
            <a:pPr marL="342900" indent="-342900">
              <a:spcAft>
                <a:spcPts val="800"/>
              </a:spcAft>
              <a:buSzPct val="100000"/>
              <a:buChar char="•"/>
            </a:pPr>
            <a:r>
              <a:rPr lang="en-US" sz="1600" dirty="0">
                <a:solidFill>
                  <a:schemeClr val="tx1"/>
                </a:solidFill>
              </a:rPr>
              <a:t>EV adoption is growing quickly and stations are expensive to build</a:t>
            </a:r>
            <a:endParaRPr lang="en-US" sz="1600" dirty="0"/>
          </a:p>
          <a:p>
            <a:pPr marL="342900" indent="-342900">
              <a:spcAft>
                <a:spcPts val="800"/>
              </a:spcAft>
              <a:buSzPct val="100000"/>
              <a:buChar char="•"/>
            </a:pPr>
            <a:r>
              <a:rPr lang="en-US" sz="1600" dirty="0">
                <a:solidFill>
                  <a:schemeClr val="tx1"/>
                </a:solidFill>
              </a:rPr>
              <a:t>A badly placed station sits idle; an under-sized one creates queues</a:t>
            </a:r>
            <a:endParaRPr lang="en-US" sz="1600" dirty="0"/>
          </a:p>
          <a:p>
            <a:pPr marL="342900" indent="-342900">
              <a:spcAft>
                <a:spcPts val="800"/>
              </a:spcAft>
              <a:buSzPct val="100000"/>
              <a:buChar char="•"/>
            </a:pPr>
            <a:r>
              <a:rPr lang="en-US" sz="1600" dirty="0">
                <a:solidFill>
                  <a:schemeClr val="tx1"/>
                </a:solidFill>
              </a:rPr>
              <a:t>A demand estimate helps operators choose sites, charger types and prices</a:t>
            </a:r>
            <a:endParaRPr lang="en-US" sz="1600" dirty="0"/>
          </a:p>
        </p:txBody>
      </p:sp>
      <p:sp>
        <p:nvSpPr>
          <p:cNvPr id="5" name="Problem card 1"/>
          <p:cNvSpPr/>
          <p:nvPr/>
        </p:nvSpPr>
        <p:spPr>
          <a:xfrm>
            <a:off x="6217920" y="1371600"/>
            <a:ext cx="5394960" cy="1325880"/>
          </a:xfrm>
          <a:prstGeom prst="roundRect">
            <a:avLst>
              <a:gd name="adj" fmla="val 8276"/>
            </a:avLst>
          </a:prstGeom>
          <a:solidFill>
            <a:schemeClr val="bg2"/>
          </a:solidFill>
          <a:ln/>
        </p:spPr>
      </p:sp>
      <p:sp>
        <p:nvSpPr>
          <p:cNvPr id="6" name="Problem card 1 circle"/>
          <p:cNvSpPr/>
          <p:nvPr/>
        </p:nvSpPr>
        <p:spPr>
          <a:xfrm>
            <a:off x="6446520" y="1645920"/>
            <a:ext cx="777240" cy="777240"/>
          </a:xfrm>
          <a:prstGeom prst="ellipse">
            <a:avLst/>
          </a:prstGeom>
          <a:solidFill>
            <a:schemeClr val="accent1"/>
          </a:solidFill>
          <a:ln/>
        </p:spPr>
      </p:sp>
      <p:pic>
        <p:nvPicPr>
          <p:cNvPr id="7" name="Problem card 1 icon" descr="preencoded.png">    </p:cNvPr>
          <p:cNvPicPr>
            <a:picLocks noChangeAspect="1"/>
          </p:cNvPicPr>
          <p:nvPr/>
        </p:nvPicPr>
        <p:blipFill>
          <a:blip r:embed="rId1"/>
          <a:stretch>
            <a:fillRect/>
          </a:stretch>
        </p:blipFill>
        <p:spPr>
          <a:xfrm>
            <a:off x="6617513" y="1816913"/>
            <a:ext cx="435254" cy="435254"/>
          </a:xfrm>
          <a:prstGeom prst="rect">
            <a:avLst/>
          </a:prstGeom>
        </p:spPr>
      </p:pic>
      <p:sp>
        <p:nvSpPr>
          <p:cNvPr id="8" name="Text 5"/>
          <p:cNvSpPr txBox="1"/>
          <p:nvPr/>
        </p:nvSpPr>
        <p:spPr>
          <a:xfrm>
            <a:off x="7452360" y="1600200"/>
            <a:ext cx="3931920" cy="365760"/>
          </a:xfrm>
          <a:prstGeom prst="rect">
            <a:avLst/>
          </a:prstGeom>
          <a:noFill/>
          <a:ln/>
        </p:spPr>
        <p:txBody>
          <a:bodyPr wrap="square" lIns="0" tIns="0" rIns="0" bIns="0" rtlCol="0" anchor="ctr"/>
          <a:lstStyle/>
          <a:p>
            <a:pPr indent="0" marL="0">
              <a:buNone/>
            </a:pPr>
            <a:r>
              <a:rPr lang="en-US" sz="1800" b="1" dirty="0">
                <a:solidFill>
                  <a:schemeClr val="tx2"/>
                </a:solidFill>
              </a:rPr>
              <a:t>Target variable</a:t>
            </a:r>
            <a:endParaRPr lang="en-US" sz="1800" dirty="0"/>
          </a:p>
        </p:txBody>
      </p:sp>
      <p:sp>
        <p:nvSpPr>
          <p:cNvPr id="9" name="Text 6"/>
          <p:cNvSpPr txBox="1"/>
          <p:nvPr/>
        </p:nvSpPr>
        <p:spPr>
          <a:xfrm>
            <a:off x="7452360" y="1993392"/>
            <a:ext cx="3931920" cy="502920"/>
          </a:xfrm>
          <a:prstGeom prst="rect">
            <a:avLst/>
          </a:prstGeom>
          <a:noFill/>
          <a:ln/>
        </p:spPr>
        <p:txBody>
          <a:bodyPr wrap="square" lIns="0" tIns="0" rIns="0" bIns="0" rtlCol="0" anchor="ctr"/>
          <a:lstStyle/>
          <a:p>
            <a:pPr indent="0" marL="0">
              <a:buNone/>
            </a:pPr>
            <a:r>
              <a:rPr lang="en-US" sz="1500" dirty="0">
                <a:solidFill>
                  <a:schemeClr val="tx1"/>
                </a:solidFill>
              </a:rPr>
              <a:t>Usage Stats (avg users/day)</a:t>
            </a:r>
            <a:endParaRPr lang="en-US" sz="1500" dirty="0"/>
          </a:p>
        </p:txBody>
      </p:sp>
      <p:sp>
        <p:nvSpPr>
          <p:cNvPr id="10" name="Problem card 2"/>
          <p:cNvSpPr/>
          <p:nvPr/>
        </p:nvSpPr>
        <p:spPr>
          <a:xfrm>
            <a:off x="6217920" y="2971800"/>
            <a:ext cx="5394960" cy="1325880"/>
          </a:xfrm>
          <a:prstGeom prst="roundRect">
            <a:avLst>
              <a:gd name="adj" fmla="val 8276"/>
            </a:avLst>
          </a:prstGeom>
          <a:solidFill>
            <a:schemeClr val="bg2"/>
          </a:solidFill>
          <a:ln/>
        </p:spPr>
      </p:sp>
      <p:sp>
        <p:nvSpPr>
          <p:cNvPr id="11" name="Problem card 2 circle"/>
          <p:cNvSpPr/>
          <p:nvPr/>
        </p:nvSpPr>
        <p:spPr>
          <a:xfrm>
            <a:off x="6446520" y="3246120"/>
            <a:ext cx="777240" cy="777240"/>
          </a:xfrm>
          <a:prstGeom prst="ellipse">
            <a:avLst/>
          </a:prstGeom>
          <a:solidFill>
            <a:schemeClr val="accent1"/>
          </a:solidFill>
          <a:ln/>
        </p:spPr>
      </p:sp>
      <p:pic>
        <p:nvPicPr>
          <p:cNvPr id="12" name="Problem card 2 icon" descr="preencoded.png">    </p:cNvPr>
          <p:cNvPicPr>
            <a:picLocks noChangeAspect="1"/>
          </p:cNvPicPr>
          <p:nvPr/>
        </p:nvPicPr>
        <p:blipFill>
          <a:blip r:embed="rId2"/>
          <a:stretch>
            <a:fillRect/>
          </a:stretch>
        </p:blipFill>
        <p:spPr>
          <a:xfrm>
            <a:off x="6617513" y="3417113"/>
            <a:ext cx="435254" cy="435254"/>
          </a:xfrm>
          <a:prstGeom prst="rect">
            <a:avLst/>
          </a:prstGeom>
        </p:spPr>
      </p:pic>
      <p:sp>
        <p:nvSpPr>
          <p:cNvPr id="13" name="Text 9"/>
          <p:cNvSpPr txBox="1"/>
          <p:nvPr/>
        </p:nvSpPr>
        <p:spPr>
          <a:xfrm>
            <a:off x="7452360" y="3200400"/>
            <a:ext cx="3931920" cy="365760"/>
          </a:xfrm>
          <a:prstGeom prst="rect">
            <a:avLst/>
          </a:prstGeom>
          <a:noFill/>
          <a:ln/>
        </p:spPr>
        <p:txBody>
          <a:bodyPr wrap="square" lIns="0" tIns="0" rIns="0" bIns="0" rtlCol="0" anchor="ctr"/>
          <a:lstStyle/>
          <a:p>
            <a:pPr indent="0" marL="0">
              <a:buNone/>
            </a:pPr>
            <a:r>
              <a:rPr lang="en-US" sz="1800" b="1" dirty="0">
                <a:solidFill>
                  <a:schemeClr val="tx2"/>
                </a:solidFill>
              </a:rPr>
              <a:t>Problem type</a:t>
            </a:r>
            <a:endParaRPr lang="en-US" sz="1800" dirty="0"/>
          </a:p>
        </p:txBody>
      </p:sp>
      <p:sp>
        <p:nvSpPr>
          <p:cNvPr id="14" name="Text 10"/>
          <p:cNvSpPr txBox="1"/>
          <p:nvPr/>
        </p:nvSpPr>
        <p:spPr>
          <a:xfrm>
            <a:off x="7452360" y="3593592"/>
            <a:ext cx="3931920" cy="502920"/>
          </a:xfrm>
          <a:prstGeom prst="rect">
            <a:avLst/>
          </a:prstGeom>
          <a:noFill/>
          <a:ln/>
        </p:spPr>
        <p:txBody>
          <a:bodyPr wrap="square" lIns="0" tIns="0" rIns="0" bIns="0" rtlCol="0" anchor="ctr"/>
          <a:lstStyle/>
          <a:p>
            <a:pPr indent="0" marL="0">
              <a:buNone/>
            </a:pPr>
            <a:r>
              <a:rPr lang="en-US" sz="1500" dirty="0">
                <a:solidFill>
                  <a:schemeClr val="tx1"/>
                </a:solidFill>
              </a:rPr>
              <a:t>Supervised regression (predicting a number)</a:t>
            </a:r>
            <a:endParaRPr lang="en-US" sz="1500" dirty="0"/>
          </a:p>
        </p:txBody>
      </p:sp>
      <p:sp>
        <p:nvSpPr>
          <p:cNvPr id="15" name="Problem card 3"/>
          <p:cNvSpPr/>
          <p:nvPr/>
        </p:nvSpPr>
        <p:spPr>
          <a:xfrm>
            <a:off x="6217920" y="4572000"/>
            <a:ext cx="5394960" cy="1325880"/>
          </a:xfrm>
          <a:prstGeom prst="roundRect">
            <a:avLst>
              <a:gd name="adj" fmla="val 8276"/>
            </a:avLst>
          </a:prstGeom>
          <a:solidFill>
            <a:schemeClr val="bg2"/>
          </a:solidFill>
          <a:ln/>
        </p:spPr>
      </p:sp>
      <p:sp>
        <p:nvSpPr>
          <p:cNvPr id="16" name="Problem card 3 circle"/>
          <p:cNvSpPr/>
          <p:nvPr/>
        </p:nvSpPr>
        <p:spPr>
          <a:xfrm>
            <a:off x="6446520" y="4846320"/>
            <a:ext cx="777240" cy="777240"/>
          </a:xfrm>
          <a:prstGeom prst="ellipse">
            <a:avLst/>
          </a:prstGeom>
          <a:solidFill>
            <a:schemeClr val="accent1"/>
          </a:solidFill>
          <a:ln/>
        </p:spPr>
      </p:sp>
      <p:pic>
        <p:nvPicPr>
          <p:cNvPr id="17" name="Problem card 3 icon" descr="preencoded.png">    </p:cNvPr>
          <p:cNvPicPr>
            <a:picLocks noChangeAspect="1"/>
          </p:cNvPicPr>
          <p:nvPr/>
        </p:nvPicPr>
        <p:blipFill>
          <a:blip r:embed="rId3"/>
          <a:stretch>
            <a:fillRect/>
          </a:stretch>
        </p:blipFill>
        <p:spPr>
          <a:xfrm>
            <a:off x="6617513" y="5017313"/>
            <a:ext cx="435254" cy="435254"/>
          </a:xfrm>
          <a:prstGeom prst="rect">
            <a:avLst/>
          </a:prstGeom>
        </p:spPr>
      </p:pic>
      <p:sp>
        <p:nvSpPr>
          <p:cNvPr id="18" name="Text 13"/>
          <p:cNvSpPr txBox="1"/>
          <p:nvPr/>
        </p:nvSpPr>
        <p:spPr>
          <a:xfrm>
            <a:off x="7452360" y="4800600"/>
            <a:ext cx="3931920" cy="365760"/>
          </a:xfrm>
          <a:prstGeom prst="rect">
            <a:avLst/>
          </a:prstGeom>
          <a:noFill/>
          <a:ln/>
        </p:spPr>
        <p:txBody>
          <a:bodyPr wrap="square" lIns="0" tIns="0" rIns="0" bIns="0" rtlCol="0" anchor="ctr"/>
          <a:lstStyle/>
          <a:p>
            <a:pPr indent="0" marL="0">
              <a:buNone/>
            </a:pPr>
            <a:r>
              <a:rPr lang="en-US" sz="1800" b="1" dirty="0">
                <a:solidFill>
                  <a:schemeClr val="tx2"/>
                </a:solidFill>
              </a:rPr>
              <a:t>Success criterion</a:t>
            </a:r>
            <a:endParaRPr lang="en-US" sz="1800" dirty="0"/>
          </a:p>
        </p:txBody>
      </p:sp>
      <p:sp>
        <p:nvSpPr>
          <p:cNvPr id="19" name="Text 14"/>
          <p:cNvSpPr txBox="1"/>
          <p:nvPr/>
        </p:nvSpPr>
        <p:spPr>
          <a:xfrm>
            <a:off x="7452360" y="5193792"/>
            <a:ext cx="3931920" cy="502920"/>
          </a:xfrm>
          <a:prstGeom prst="rect">
            <a:avLst/>
          </a:prstGeom>
          <a:noFill/>
          <a:ln/>
        </p:spPr>
        <p:txBody>
          <a:bodyPr wrap="square" lIns="0" tIns="0" rIns="0" bIns="0" rtlCol="0" anchor="ctr"/>
          <a:lstStyle/>
          <a:p>
            <a:pPr indent="0" marL="0">
              <a:buNone/>
            </a:pPr>
            <a:r>
              <a:rPr lang="en-US" sz="1500" dirty="0">
                <a:solidFill>
                  <a:schemeClr val="tx1"/>
                </a:solidFill>
              </a:rPr>
              <a:t>Beat a baseline that always predicts the average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Dataset: Detailed EV Charging Stations</a:t>
            </a:r>
            <a:endParaRPr lang="en-US" sz="3400" dirty="0"/>
          </a:p>
        </p:txBody>
      </p:sp>
      <p:sp>
        <p:nvSpPr>
          <p:cNvPr id="3" name="Text 1"/>
          <p:cNvSpPr txBox="1"/>
          <p:nvPr/>
        </p:nvSpPr>
        <p:spPr>
          <a:xfrm>
            <a:off x="548640" y="1280160"/>
            <a:ext cx="256032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5,000</a:t>
            </a:r>
            <a:endParaRPr lang="en-US" sz="5400" dirty="0"/>
          </a:p>
        </p:txBody>
      </p:sp>
      <p:sp>
        <p:nvSpPr>
          <p:cNvPr id="4" name="Text 2"/>
          <p:cNvSpPr txBox="1"/>
          <p:nvPr/>
        </p:nvSpPr>
        <p:spPr>
          <a:xfrm>
            <a:off x="548640" y="2194560"/>
            <a:ext cx="2560320" cy="365760"/>
          </a:xfrm>
          <a:prstGeom prst="rect">
            <a:avLst/>
          </a:prstGeom>
          <a:noFill/>
          <a:ln/>
        </p:spPr>
        <p:txBody>
          <a:bodyPr wrap="square" lIns="0" tIns="0" rIns="0" bIns="0" rtlCol="0" anchor="ctr"/>
          <a:lstStyle/>
          <a:p>
            <a:pPr indent="0" marL="0">
              <a:buNone/>
            </a:pPr>
            <a:r>
              <a:rPr lang="en-US" sz="1600" dirty="0">
                <a:solidFill>
                  <a:schemeClr val="tx1"/>
                </a:solidFill>
              </a:rPr>
              <a:t>charging stations</a:t>
            </a:r>
            <a:endParaRPr lang="en-US" sz="1600" dirty="0"/>
          </a:p>
        </p:txBody>
      </p:sp>
      <p:sp>
        <p:nvSpPr>
          <p:cNvPr id="5" name="Text 3"/>
          <p:cNvSpPr txBox="1"/>
          <p:nvPr/>
        </p:nvSpPr>
        <p:spPr>
          <a:xfrm>
            <a:off x="3383280" y="1280160"/>
            <a:ext cx="256032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17</a:t>
            </a:r>
            <a:endParaRPr lang="en-US" sz="5400" dirty="0"/>
          </a:p>
        </p:txBody>
      </p:sp>
      <p:sp>
        <p:nvSpPr>
          <p:cNvPr id="6" name="Text 4"/>
          <p:cNvSpPr txBox="1"/>
          <p:nvPr/>
        </p:nvSpPr>
        <p:spPr>
          <a:xfrm>
            <a:off x="3383280" y="2194560"/>
            <a:ext cx="2560320" cy="365760"/>
          </a:xfrm>
          <a:prstGeom prst="rect">
            <a:avLst/>
          </a:prstGeom>
          <a:noFill/>
          <a:ln/>
        </p:spPr>
        <p:txBody>
          <a:bodyPr wrap="square" lIns="0" tIns="0" rIns="0" bIns="0" rtlCol="0" anchor="ctr"/>
          <a:lstStyle/>
          <a:p>
            <a:pPr indent="0" marL="0">
              <a:buNone/>
            </a:pPr>
            <a:r>
              <a:rPr lang="en-US" sz="1600" dirty="0">
                <a:solidFill>
                  <a:schemeClr val="tx1"/>
                </a:solidFill>
              </a:rPr>
              <a:t>attributes</a:t>
            </a:r>
            <a:endParaRPr lang="en-US" sz="1600" dirty="0"/>
          </a:p>
        </p:txBody>
      </p:sp>
      <p:sp>
        <p:nvSpPr>
          <p:cNvPr id="7" name="Text 5"/>
          <p:cNvSpPr txBox="1"/>
          <p:nvPr/>
        </p:nvSpPr>
        <p:spPr>
          <a:xfrm>
            <a:off x="6217920" y="1280160"/>
            <a:ext cx="256032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0</a:t>
            </a:r>
            <a:endParaRPr lang="en-US" sz="5400" dirty="0"/>
          </a:p>
        </p:txBody>
      </p:sp>
      <p:sp>
        <p:nvSpPr>
          <p:cNvPr id="8" name="Text 6"/>
          <p:cNvSpPr txBox="1"/>
          <p:nvPr/>
        </p:nvSpPr>
        <p:spPr>
          <a:xfrm>
            <a:off x="6217920" y="2194560"/>
            <a:ext cx="2560320" cy="365760"/>
          </a:xfrm>
          <a:prstGeom prst="rect">
            <a:avLst/>
          </a:prstGeom>
          <a:noFill/>
          <a:ln/>
        </p:spPr>
        <p:txBody>
          <a:bodyPr wrap="square" lIns="0" tIns="0" rIns="0" bIns="0" rtlCol="0" anchor="ctr"/>
          <a:lstStyle/>
          <a:p>
            <a:pPr indent="0" marL="0">
              <a:buNone/>
            </a:pPr>
            <a:r>
              <a:rPr lang="en-US" sz="1600" dirty="0">
                <a:solidFill>
                  <a:schemeClr val="tx1"/>
                </a:solidFill>
              </a:rPr>
              <a:t>missing values</a:t>
            </a:r>
            <a:endParaRPr lang="en-US" sz="1600" dirty="0"/>
          </a:p>
        </p:txBody>
      </p:sp>
      <p:sp>
        <p:nvSpPr>
          <p:cNvPr id="9" name="Text 7"/>
          <p:cNvSpPr txBox="1"/>
          <p:nvPr/>
        </p:nvSpPr>
        <p:spPr>
          <a:xfrm>
            <a:off x="9052560" y="1280160"/>
            <a:ext cx="256032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0</a:t>
            </a:r>
            <a:endParaRPr lang="en-US" sz="5400" dirty="0"/>
          </a:p>
        </p:txBody>
      </p:sp>
      <p:sp>
        <p:nvSpPr>
          <p:cNvPr id="10" name="Text 8"/>
          <p:cNvSpPr txBox="1"/>
          <p:nvPr/>
        </p:nvSpPr>
        <p:spPr>
          <a:xfrm>
            <a:off x="9052560" y="2194560"/>
            <a:ext cx="2560320" cy="365760"/>
          </a:xfrm>
          <a:prstGeom prst="rect">
            <a:avLst/>
          </a:prstGeom>
          <a:noFill/>
          <a:ln/>
        </p:spPr>
        <p:txBody>
          <a:bodyPr wrap="square" lIns="0" tIns="0" rIns="0" bIns="0" rtlCol="0" anchor="ctr"/>
          <a:lstStyle/>
          <a:p>
            <a:pPr indent="0" marL="0">
              <a:buNone/>
            </a:pPr>
            <a:r>
              <a:rPr lang="en-US" sz="1600" dirty="0">
                <a:solidFill>
                  <a:schemeClr val="tx1"/>
                </a:solidFill>
              </a:rPr>
              <a:t>duplicate rows</a:t>
            </a:r>
            <a:endParaRPr lang="en-US" sz="1600" dirty="0"/>
          </a:p>
        </p:txBody>
      </p:sp>
      <p:sp>
        <p:nvSpPr>
          <p:cNvPr id="11" name="Attribute group 1"/>
          <p:cNvSpPr/>
          <p:nvPr/>
        </p:nvSpPr>
        <p:spPr>
          <a:xfrm>
            <a:off x="548640" y="2971800"/>
            <a:ext cx="2606040" cy="2743200"/>
          </a:xfrm>
          <a:prstGeom prst="roundRect">
            <a:avLst>
              <a:gd name="adj" fmla="val 4211"/>
            </a:avLst>
          </a:prstGeom>
          <a:solidFill>
            <a:schemeClr val="bg2"/>
          </a:solidFill>
          <a:ln/>
        </p:spPr>
      </p:sp>
      <p:sp>
        <p:nvSpPr>
          <p:cNvPr id="12" name="Attribute group 1 circle"/>
          <p:cNvSpPr/>
          <p:nvPr/>
        </p:nvSpPr>
        <p:spPr>
          <a:xfrm>
            <a:off x="777240" y="3200400"/>
            <a:ext cx="685800" cy="685800"/>
          </a:xfrm>
          <a:prstGeom prst="ellipse">
            <a:avLst/>
          </a:prstGeom>
          <a:solidFill>
            <a:schemeClr val="accent1"/>
          </a:solidFill>
          <a:ln/>
        </p:spPr>
      </p:sp>
      <p:pic>
        <p:nvPicPr>
          <p:cNvPr id="13" name="Attribute group 1 icon" descr="preencoded.png">    </p:cNvPr>
          <p:cNvPicPr>
            <a:picLocks noChangeAspect="1"/>
          </p:cNvPicPr>
          <p:nvPr/>
        </p:nvPicPr>
        <p:blipFill>
          <a:blip r:embed="rId1"/>
          <a:stretch>
            <a:fillRect/>
          </a:stretch>
        </p:blipFill>
        <p:spPr>
          <a:xfrm>
            <a:off x="928116" y="3351276"/>
            <a:ext cx="384048" cy="384048"/>
          </a:xfrm>
          <a:prstGeom prst="rect">
            <a:avLst/>
          </a:prstGeom>
        </p:spPr>
      </p:pic>
      <p:sp>
        <p:nvSpPr>
          <p:cNvPr id="14" name="Text 11"/>
          <p:cNvSpPr txBox="1"/>
          <p:nvPr/>
        </p:nvSpPr>
        <p:spPr>
          <a:xfrm>
            <a:off x="777240" y="406908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Location</a:t>
            </a:r>
            <a:endParaRPr lang="en-US" sz="1800" dirty="0"/>
          </a:p>
        </p:txBody>
      </p:sp>
      <p:sp>
        <p:nvSpPr>
          <p:cNvPr id="15" name="Text 12"/>
          <p:cNvSpPr txBox="1"/>
          <p:nvPr/>
        </p:nvSpPr>
        <p:spPr>
          <a:xfrm>
            <a:off x="777240" y="4480560"/>
            <a:ext cx="2194560" cy="1097280"/>
          </a:xfrm>
          <a:prstGeom prst="rect">
            <a:avLst/>
          </a:prstGeom>
          <a:noFill/>
          <a:ln/>
        </p:spPr>
        <p:txBody>
          <a:bodyPr wrap="square" lIns="0" tIns="0" rIns="0" bIns="0" rtlCol="0" anchor="t"/>
          <a:lstStyle/>
          <a:p>
            <a:pPr indent="0" marL="0">
              <a:buNone/>
            </a:pPr>
            <a:r>
              <a:rPr lang="en-US" sz="1500" dirty="0">
                <a:solidFill>
                  <a:schemeClr val="tx1"/>
                </a:solidFill>
              </a:rPr>
              <a:t>Latitude, longitude, address, distance to city</a:t>
            </a:r>
            <a:endParaRPr lang="en-US" sz="1500" dirty="0"/>
          </a:p>
        </p:txBody>
      </p:sp>
      <p:sp>
        <p:nvSpPr>
          <p:cNvPr id="16" name="Attribute group 2"/>
          <p:cNvSpPr/>
          <p:nvPr/>
        </p:nvSpPr>
        <p:spPr>
          <a:xfrm>
            <a:off x="3383280" y="2971800"/>
            <a:ext cx="2606040" cy="2743200"/>
          </a:xfrm>
          <a:prstGeom prst="roundRect">
            <a:avLst>
              <a:gd name="adj" fmla="val 4211"/>
            </a:avLst>
          </a:prstGeom>
          <a:solidFill>
            <a:schemeClr val="bg2"/>
          </a:solidFill>
          <a:ln/>
        </p:spPr>
      </p:sp>
      <p:sp>
        <p:nvSpPr>
          <p:cNvPr id="17" name="Attribute group 2 circle"/>
          <p:cNvSpPr/>
          <p:nvPr/>
        </p:nvSpPr>
        <p:spPr>
          <a:xfrm>
            <a:off x="3611880" y="3200400"/>
            <a:ext cx="685800" cy="685800"/>
          </a:xfrm>
          <a:prstGeom prst="ellipse">
            <a:avLst/>
          </a:prstGeom>
          <a:solidFill>
            <a:schemeClr val="accent1"/>
          </a:solidFill>
          <a:ln/>
        </p:spPr>
      </p:sp>
      <p:pic>
        <p:nvPicPr>
          <p:cNvPr id="18" name="Attribute group 2 icon" descr="preencoded.png">    </p:cNvPr>
          <p:cNvPicPr>
            <a:picLocks noChangeAspect="1"/>
          </p:cNvPicPr>
          <p:nvPr/>
        </p:nvPicPr>
        <p:blipFill>
          <a:blip r:embed="rId2"/>
          <a:stretch>
            <a:fillRect/>
          </a:stretch>
        </p:blipFill>
        <p:spPr>
          <a:xfrm>
            <a:off x="3762756" y="3351276"/>
            <a:ext cx="384048" cy="384048"/>
          </a:xfrm>
          <a:prstGeom prst="rect">
            <a:avLst/>
          </a:prstGeom>
        </p:spPr>
      </p:pic>
      <p:sp>
        <p:nvSpPr>
          <p:cNvPr id="19" name="Text 15"/>
          <p:cNvSpPr txBox="1"/>
          <p:nvPr/>
        </p:nvSpPr>
        <p:spPr>
          <a:xfrm>
            <a:off x="3611880" y="406908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Hardware</a:t>
            </a:r>
            <a:endParaRPr lang="en-US" sz="1800" dirty="0"/>
          </a:p>
        </p:txBody>
      </p:sp>
      <p:sp>
        <p:nvSpPr>
          <p:cNvPr id="20" name="Text 16"/>
          <p:cNvSpPr txBox="1"/>
          <p:nvPr/>
        </p:nvSpPr>
        <p:spPr>
          <a:xfrm>
            <a:off x="3611880" y="4480560"/>
            <a:ext cx="2194560" cy="1097280"/>
          </a:xfrm>
          <a:prstGeom prst="rect">
            <a:avLst/>
          </a:prstGeom>
          <a:noFill/>
          <a:ln/>
        </p:spPr>
        <p:txBody>
          <a:bodyPr wrap="square" lIns="0" tIns="0" rIns="0" bIns="0" rtlCol="0" anchor="t"/>
          <a:lstStyle/>
          <a:p>
            <a:pPr indent="0" marL="0">
              <a:buNone/>
            </a:pPr>
            <a:r>
              <a:rPr lang="en-US" sz="1500" dirty="0">
                <a:solidFill>
                  <a:schemeClr val="tx1"/>
                </a:solidFill>
              </a:rPr>
              <a:t>Charger type, capacity (kW), connector types, parking spots</a:t>
            </a:r>
            <a:endParaRPr lang="en-US" sz="1500" dirty="0"/>
          </a:p>
        </p:txBody>
      </p:sp>
      <p:sp>
        <p:nvSpPr>
          <p:cNvPr id="21" name="Attribute group 3"/>
          <p:cNvSpPr/>
          <p:nvPr/>
        </p:nvSpPr>
        <p:spPr>
          <a:xfrm>
            <a:off x="6217920" y="2971800"/>
            <a:ext cx="2606040" cy="2743200"/>
          </a:xfrm>
          <a:prstGeom prst="roundRect">
            <a:avLst>
              <a:gd name="adj" fmla="val 4211"/>
            </a:avLst>
          </a:prstGeom>
          <a:solidFill>
            <a:schemeClr val="bg2"/>
          </a:solidFill>
          <a:ln/>
        </p:spPr>
      </p:sp>
      <p:sp>
        <p:nvSpPr>
          <p:cNvPr id="22" name="Attribute group 3 circle"/>
          <p:cNvSpPr/>
          <p:nvPr/>
        </p:nvSpPr>
        <p:spPr>
          <a:xfrm>
            <a:off x="6446520" y="3200400"/>
            <a:ext cx="685800" cy="685800"/>
          </a:xfrm>
          <a:prstGeom prst="ellipse">
            <a:avLst/>
          </a:prstGeom>
          <a:solidFill>
            <a:schemeClr val="accent1"/>
          </a:solidFill>
          <a:ln/>
        </p:spPr>
      </p:sp>
      <p:pic>
        <p:nvPicPr>
          <p:cNvPr id="23" name="Attribute group 3 icon" descr="preencoded.png">    </p:cNvPr>
          <p:cNvPicPr>
            <a:picLocks noChangeAspect="1"/>
          </p:cNvPicPr>
          <p:nvPr/>
        </p:nvPicPr>
        <p:blipFill>
          <a:blip r:embed="rId3"/>
          <a:stretch>
            <a:fillRect/>
          </a:stretch>
        </p:blipFill>
        <p:spPr>
          <a:xfrm>
            <a:off x="6597396" y="3351276"/>
            <a:ext cx="384048" cy="384048"/>
          </a:xfrm>
          <a:prstGeom prst="rect">
            <a:avLst/>
          </a:prstGeom>
        </p:spPr>
      </p:pic>
      <p:sp>
        <p:nvSpPr>
          <p:cNvPr id="24" name="Text 19"/>
          <p:cNvSpPr txBox="1"/>
          <p:nvPr/>
        </p:nvSpPr>
        <p:spPr>
          <a:xfrm>
            <a:off x="6446520" y="406908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Service</a:t>
            </a:r>
            <a:endParaRPr lang="en-US" sz="1800" dirty="0"/>
          </a:p>
        </p:txBody>
      </p:sp>
      <p:sp>
        <p:nvSpPr>
          <p:cNvPr id="25" name="Text 20"/>
          <p:cNvSpPr txBox="1"/>
          <p:nvPr/>
        </p:nvSpPr>
        <p:spPr>
          <a:xfrm>
            <a:off x="6446520" y="4480560"/>
            <a:ext cx="2194560" cy="1097280"/>
          </a:xfrm>
          <a:prstGeom prst="rect">
            <a:avLst/>
          </a:prstGeom>
          <a:noFill/>
          <a:ln/>
        </p:spPr>
        <p:txBody>
          <a:bodyPr wrap="square" lIns="0" tIns="0" rIns="0" bIns="0" rtlCol="0" anchor="t"/>
          <a:lstStyle/>
          <a:p>
            <a:pPr indent="0" marL="0">
              <a:buNone/>
            </a:pPr>
            <a:r>
              <a:rPr lang="en-US" sz="1500" dirty="0">
                <a:solidFill>
                  <a:schemeClr val="tx1"/>
                </a:solidFill>
              </a:rPr>
              <a:t>Cost per kWh, opening hours, operator, renewable energy, maintenance</a:t>
            </a:r>
            <a:endParaRPr lang="en-US" sz="1500" dirty="0"/>
          </a:p>
        </p:txBody>
      </p:sp>
      <p:sp>
        <p:nvSpPr>
          <p:cNvPr id="26" name="Attribute group 4"/>
          <p:cNvSpPr/>
          <p:nvPr/>
        </p:nvSpPr>
        <p:spPr>
          <a:xfrm>
            <a:off x="9052560" y="2971800"/>
            <a:ext cx="2606040" cy="2743200"/>
          </a:xfrm>
          <a:prstGeom prst="roundRect">
            <a:avLst>
              <a:gd name="adj" fmla="val 4211"/>
            </a:avLst>
          </a:prstGeom>
          <a:solidFill>
            <a:schemeClr val="bg2"/>
          </a:solidFill>
          <a:ln/>
        </p:spPr>
      </p:sp>
      <p:sp>
        <p:nvSpPr>
          <p:cNvPr id="27" name="Attribute group 4 circle"/>
          <p:cNvSpPr/>
          <p:nvPr/>
        </p:nvSpPr>
        <p:spPr>
          <a:xfrm>
            <a:off x="9281160" y="3200400"/>
            <a:ext cx="685800" cy="685800"/>
          </a:xfrm>
          <a:prstGeom prst="ellipse">
            <a:avLst/>
          </a:prstGeom>
          <a:solidFill>
            <a:schemeClr val="accent2"/>
          </a:solidFill>
          <a:ln/>
        </p:spPr>
      </p:sp>
      <p:pic>
        <p:nvPicPr>
          <p:cNvPr id="28" name="Attribute group 4 icon" descr="preencoded.png">    </p:cNvPr>
          <p:cNvPicPr>
            <a:picLocks noChangeAspect="1"/>
          </p:cNvPicPr>
          <p:nvPr/>
        </p:nvPicPr>
        <p:blipFill>
          <a:blip r:embed="rId4"/>
          <a:stretch>
            <a:fillRect/>
          </a:stretch>
        </p:blipFill>
        <p:spPr>
          <a:xfrm>
            <a:off x="9432036" y="3351276"/>
            <a:ext cx="384048" cy="384048"/>
          </a:xfrm>
          <a:prstGeom prst="rect">
            <a:avLst/>
          </a:prstGeom>
        </p:spPr>
      </p:pic>
      <p:sp>
        <p:nvSpPr>
          <p:cNvPr id="29" name="Text 23"/>
          <p:cNvSpPr txBox="1"/>
          <p:nvPr/>
        </p:nvSpPr>
        <p:spPr>
          <a:xfrm>
            <a:off x="9281160" y="406908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Usage &amp; feedback</a:t>
            </a:r>
            <a:endParaRPr lang="en-US" sz="1800" dirty="0"/>
          </a:p>
        </p:txBody>
      </p:sp>
      <p:sp>
        <p:nvSpPr>
          <p:cNvPr id="30" name="Text 24"/>
          <p:cNvSpPr txBox="1"/>
          <p:nvPr/>
        </p:nvSpPr>
        <p:spPr>
          <a:xfrm>
            <a:off x="9281160" y="4480560"/>
            <a:ext cx="2194560" cy="1097280"/>
          </a:xfrm>
          <a:prstGeom prst="rect">
            <a:avLst/>
          </a:prstGeom>
          <a:noFill/>
          <a:ln/>
        </p:spPr>
        <p:txBody>
          <a:bodyPr wrap="square" lIns="0" tIns="0" rIns="0" bIns="0" rtlCol="0" anchor="t"/>
          <a:lstStyle/>
          <a:p>
            <a:pPr indent="0" marL="0">
              <a:buNone/>
            </a:pPr>
            <a:r>
              <a:rPr lang="en-US" sz="1500" dirty="0">
                <a:solidFill>
                  <a:schemeClr val="tx1"/>
                </a:solidFill>
              </a:rPr>
              <a:t>Avg users/day (target), review rating, installation year</a:t>
            </a:r>
            <a:endParaRPr lang="en-US" sz="1500" dirty="0"/>
          </a:p>
        </p:txBody>
      </p:sp>
      <p:sp>
        <p:nvSpPr>
          <p:cNvPr id="31" name="Text 25"/>
          <p:cNvSpPr txBox="1"/>
          <p:nvPr/>
        </p:nvSpPr>
        <p:spPr>
          <a:xfrm>
            <a:off x="548640" y="5897880"/>
            <a:ext cx="10972800" cy="274320"/>
          </a:xfrm>
          <a:prstGeom prst="rect">
            <a:avLst/>
          </a:prstGeom>
          <a:noFill/>
          <a:ln/>
        </p:spPr>
        <p:txBody>
          <a:bodyPr wrap="square" lIns="0" tIns="0" rIns="0" bIns="0" rtlCol="0" anchor="ctr"/>
          <a:lstStyle/>
          <a:p>
            <a:pPr indent="0" marL="0">
              <a:buNone/>
            </a:pPr>
            <a:r>
              <a:rPr lang="en-US" sz="1100" dirty="0">
                <a:solidFill>
                  <a:schemeClr val="accent6"/>
                </a:solidFill>
              </a:rPr>
              <a:t>Source: Kaggle, 2025  ·  file: detailed_ev_charging_stations.csv</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Data Understanding: Exploratory Analysis</a:t>
            </a:r>
            <a:endParaRPr lang="en-US" sz="3400" dirty="0"/>
          </a:p>
        </p:txBody>
      </p:sp>
      <p:pic>
        <p:nvPicPr>
          <p:cNvPr id="3" name="Target histogram" descr="/private/tmp/claude-501/-Users-vlad-Downloads-PA-CA-3/f5d5aa73-7ad0-488b-846d-2135acd18887/scratchpad/deck/img/target_hist.png">    </p:cNvPr>
          <p:cNvPicPr>
            <a:picLocks noChangeAspect="1"/>
          </p:cNvPicPr>
          <p:nvPr/>
        </p:nvPicPr>
        <p:blipFill>
          <a:blip r:embed="rId1"/>
          <a:stretch>
            <a:fillRect/>
          </a:stretch>
        </p:blipFill>
        <p:spPr>
          <a:xfrm>
            <a:off x="548640" y="1280160"/>
            <a:ext cx="4206240" cy="3338286"/>
          </a:xfrm>
          <a:prstGeom prst="rect">
            <a:avLst/>
          </a:prstGeom>
        </p:spPr>
      </p:pic>
      <p:pic>
        <p:nvPicPr>
          <p:cNvPr id="4" name="Correlation heatmap" descr="/private/tmp/claude-501/-Users-vlad-Downloads-PA-CA-3/f5d5aa73-7ad0-488b-846d-2135acd18887/scratchpad/deck/img/corr_heatmap.png">    </p:cNvPr>
          <p:cNvPicPr>
            <a:picLocks noChangeAspect="1"/>
          </p:cNvPicPr>
          <p:nvPr/>
        </p:nvPicPr>
        <p:blipFill>
          <a:blip r:embed="rId2"/>
          <a:stretch>
            <a:fillRect/>
          </a:stretch>
        </p:blipFill>
        <p:spPr>
          <a:xfrm>
            <a:off x="4983480" y="1188720"/>
            <a:ext cx="3657600" cy="3265714"/>
          </a:xfrm>
          <a:prstGeom prst="rect">
            <a:avLst/>
          </a:prstGeom>
        </p:spPr>
      </p:pic>
      <p:sp>
        <p:nvSpPr>
          <p:cNvPr id="5" name="Text 1"/>
          <p:cNvSpPr txBox="1"/>
          <p:nvPr/>
        </p:nvSpPr>
        <p:spPr>
          <a:xfrm>
            <a:off x="548640" y="4754880"/>
            <a:ext cx="4206240" cy="548640"/>
          </a:xfrm>
          <a:prstGeom prst="rect">
            <a:avLst/>
          </a:prstGeom>
          <a:noFill/>
          <a:ln/>
        </p:spPr>
        <p:txBody>
          <a:bodyPr wrap="square" lIns="0" tIns="0" rIns="0" bIns="0" rtlCol="0" anchor="ctr"/>
          <a:lstStyle/>
          <a:p>
            <a:pPr indent="0" marL="0">
              <a:buNone/>
            </a:pPr>
            <a:r>
              <a:rPr lang="en-US" sz="1400" i="1" dirty="0">
                <a:solidFill>
                  <a:schemeClr val="accent6"/>
                </a:solidFill>
              </a:rPr>
              <a:t>Daily users spread evenly from 10 to 100 (mean ≈ 55)</a:t>
            </a:r>
            <a:endParaRPr lang="en-US" sz="1400" dirty="0"/>
          </a:p>
        </p:txBody>
      </p:sp>
      <p:sp>
        <p:nvSpPr>
          <p:cNvPr id="6" name="Text 2"/>
          <p:cNvSpPr txBox="1"/>
          <p:nvPr/>
        </p:nvSpPr>
        <p:spPr>
          <a:xfrm>
            <a:off x="4983480" y="4754880"/>
            <a:ext cx="3657600" cy="548640"/>
          </a:xfrm>
          <a:prstGeom prst="rect">
            <a:avLst/>
          </a:prstGeom>
          <a:noFill/>
          <a:ln/>
        </p:spPr>
        <p:txBody>
          <a:bodyPr wrap="square" lIns="0" tIns="0" rIns="0" bIns="0" rtlCol="0" anchor="ctr"/>
          <a:lstStyle/>
          <a:p>
            <a:pPr indent="0" marL="0">
              <a:buNone/>
            </a:pPr>
            <a:r>
              <a:rPr lang="en-US" sz="1400" i="1" dirty="0">
                <a:solidFill>
                  <a:schemeClr val="accent6"/>
                </a:solidFill>
              </a:rPr>
              <a:t>Every correlation with usage is close to 0 (|r| &lt; 0.035)</a:t>
            </a:r>
            <a:endParaRPr lang="en-US" sz="1400" dirty="0"/>
          </a:p>
        </p:txBody>
      </p:sp>
      <p:sp>
        <p:nvSpPr>
          <p:cNvPr id="7" name="EDA findings card"/>
          <p:cNvSpPr/>
          <p:nvPr/>
        </p:nvSpPr>
        <p:spPr>
          <a:xfrm>
            <a:off x="8915400" y="1280160"/>
            <a:ext cx="2697480" cy="4480560"/>
          </a:xfrm>
          <a:prstGeom prst="roundRect">
            <a:avLst>
              <a:gd name="adj" fmla="val 4068"/>
            </a:avLst>
          </a:prstGeom>
          <a:solidFill>
            <a:schemeClr val="bg2"/>
          </a:solidFill>
          <a:ln/>
        </p:spPr>
      </p:sp>
      <p:sp>
        <p:nvSpPr>
          <p:cNvPr id="8" name="Text 4"/>
          <p:cNvSpPr txBox="1"/>
          <p:nvPr/>
        </p:nvSpPr>
        <p:spPr>
          <a:xfrm>
            <a:off x="9098280" y="1463040"/>
            <a:ext cx="2377440" cy="411480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Key findings</a:t>
            </a:r>
            <a:endParaRPr lang="en-US" sz="1500" dirty="0"/>
          </a:p>
          <a:p>
            <a:pPr marL="342900" indent="-342900">
              <a:spcAft>
                <a:spcPts val="800"/>
              </a:spcAft>
              <a:buSzPct val="100000"/>
              <a:buChar char="•"/>
            </a:pPr>
            <a:r>
              <a:rPr lang="en-US" sz="1500" dirty="0">
                <a:solidFill>
                  <a:schemeClr val="tx1"/>
                </a:solidFill>
              </a:rPr>
              <a:t>No outliers in any numeric column</a:t>
            </a:r>
            <a:endParaRPr lang="en-US" sz="1500" dirty="0"/>
          </a:p>
          <a:p>
            <a:pPr marL="342900" indent="-342900">
              <a:spcAft>
                <a:spcPts val="800"/>
              </a:spcAft>
              <a:buSzPct val="100000"/>
              <a:buChar char="•"/>
            </a:pPr>
            <a:r>
              <a:rPr lang="en-US" sz="1500" dirty="0">
                <a:solidFill>
                  <a:schemeClr val="tx1"/>
                </a:solidFill>
              </a:rPr>
              <a:t>No feature is correlated with usage</a:t>
            </a:r>
            <a:endParaRPr lang="en-US" sz="1500" dirty="0"/>
          </a:p>
          <a:p>
            <a:pPr marL="342900" indent="-342900">
              <a:spcAft>
                <a:spcPts val="800"/>
              </a:spcAft>
              <a:buSzPct val="100000"/>
              <a:buChar char="•"/>
            </a:pPr>
            <a:r>
              <a:rPr lang="en-US" sz="1500" dirty="0">
                <a:solidFill>
                  <a:schemeClr val="tx1"/>
                </a:solidFill>
              </a:rPr>
              <a:t>Usage is almost the same for every charger type, operator and opening hours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Preprocessing: Data Quality Check</a:t>
            </a:r>
            <a:endParaRPr lang="en-US" sz="3400" dirty="0"/>
          </a:p>
        </p:txBody>
      </p:sp>
      <p:sp>
        <p:nvSpPr>
          <p:cNvPr id="3" name="Text 1"/>
          <p:cNvSpPr txBox="1"/>
          <p:nvPr/>
        </p:nvSpPr>
        <p:spPr>
          <a:xfrm>
            <a:off x="548640" y="1325880"/>
            <a:ext cx="6035040" cy="365760"/>
          </a:xfrm>
          <a:prstGeom prst="rect">
            <a:avLst/>
          </a:prstGeom>
          <a:noFill/>
          <a:ln/>
        </p:spPr>
        <p:txBody>
          <a:bodyPr wrap="square" lIns="0" tIns="0" rIns="0" bIns="0" rtlCol="0" anchor="ctr"/>
          <a:lstStyle/>
          <a:p>
            <a:pPr indent="0" marL="0">
              <a:buNone/>
            </a:pPr>
            <a:r>
              <a:rPr lang="en-US" sz="1600" b="1" dirty="0">
                <a:solidFill>
                  <a:schemeClr val="tx2"/>
                </a:solidFill>
              </a:rPr>
              <a:t>Charger type vs charging capacity (number of stations)</a:t>
            </a:r>
            <a:endParaRPr lang="en-US" sz="1600" dirty="0"/>
          </a:p>
        </p:txBody>
      </p:sp>
      <p:graphicFrame>
        <p:nvGraphicFramePr>
          <p:cNvPr id="6" name="Crosstab table"/>
          <p:cNvGraphicFramePr>
            <a:graphicFrameLocks noGrp="1"/>
          </p:cNvGraphicFramePr>
          <p:nvPr>
            <p:extLst>
              <p:ext uri="{D42A27DB-BD31-4B8C-83A1-F6EECF244321}">
                <p14:modId xmlns:p14="http://schemas.microsoft.com/office/powerpoint/2010/main" val="1579011935"/>
              </p:ext>
            </p:extLst>
          </p:nvPr>
        </p:nvGraphicFramePr>
        <p:xfrm>
          <a:off x="548640" y="1783080"/>
          <a:ext cx="6035040" cy="914400"/>
        </p:xfrm>
        <a:graphic>
          <a:graphicData uri="http://schemas.openxmlformats.org/drawingml/2006/table">
            <a:tbl>
              <a:tblPr/>
              <a:tblGrid>
                <a:gridCol w="1645920"/>
                <a:gridCol w="1097280"/>
                <a:gridCol w="1097280"/>
                <a:gridCol w="1097280"/>
                <a:gridCol w="1097280"/>
              </a:tblGrid>
              <a:tr h="457200">
                <a:tc>
                  <a:txBody>
                    <a:bodyPr/>
                    <a:lstStyle/>
                    <a:p>
                      <a:pPr algn="ctr" indent="0" marL="0">
                        <a:buNone/>
                      </a:pPr>
                      <a:r>
                        <a:rPr lang="en-US" sz="1500" b="1" dirty="0">
                          <a:solidFill>
                            <a:srgbClr val="FFFFFF"/>
                          </a:solidFill>
                        </a:rPr>
                        <a:t>Charger type</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c>
                  <a:txBody>
                    <a:bodyPr/>
                    <a:lstStyle/>
                    <a:p>
                      <a:pPr algn="ctr" indent="0" marL="0">
                        <a:buNone/>
                      </a:pPr>
                      <a:r>
                        <a:rPr lang="en-US" sz="1500" b="1" dirty="0">
                          <a:solidFill>
                            <a:srgbClr val="FFFFFF"/>
                          </a:solidFill>
                        </a:rPr>
                        <a:t>22 kW</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c>
                  <a:txBody>
                    <a:bodyPr/>
                    <a:lstStyle/>
                    <a:p>
                      <a:pPr algn="ctr" indent="0" marL="0">
                        <a:buNone/>
                      </a:pPr>
                      <a:r>
                        <a:rPr lang="en-US" sz="1500" b="1" dirty="0">
                          <a:solidFill>
                            <a:srgbClr val="FFFFFF"/>
                          </a:solidFill>
                        </a:rPr>
                        <a:t>50 kW</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c>
                  <a:txBody>
                    <a:bodyPr/>
                    <a:lstStyle/>
                    <a:p>
                      <a:pPr algn="ctr" indent="0" marL="0">
                        <a:buNone/>
                      </a:pPr>
                      <a:r>
                        <a:rPr lang="en-US" sz="1500" b="1" dirty="0">
                          <a:solidFill>
                            <a:srgbClr val="FFFFFF"/>
                          </a:solidFill>
                        </a:rPr>
                        <a:t>150 kW</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c>
                  <a:txBody>
                    <a:bodyPr/>
                    <a:lstStyle/>
                    <a:p>
                      <a:pPr algn="ctr" indent="0" marL="0">
                        <a:buNone/>
                      </a:pPr>
                      <a:r>
                        <a:rPr lang="en-US" sz="1500" b="1" dirty="0">
                          <a:solidFill>
                            <a:srgbClr val="FFFFFF"/>
                          </a:solidFill>
                        </a:rPr>
                        <a:t>350 kW</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r>
              <a:tr h="457200">
                <a:tc>
                  <a:txBody>
                    <a:bodyPr/>
                    <a:lstStyle/>
                    <a:p>
                      <a:pPr indent="0" marL="0">
                        <a:buNone/>
                      </a:pPr>
                      <a:r>
                        <a:rPr lang="en-US" sz="1500" dirty="0">
                          <a:solidFill>
                            <a:srgbClr val="1B2A2F"/>
                          </a:solidFill>
                        </a:rPr>
                        <a:t>AC Level 1</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dirty="0">
                          <a:solidFill>
                            <a:srgbClr val="1B2A2F"/>
                          </a:solidFill>
                        </a:rPr>
                        <a:t>401</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dirty="0">
                          <a:solidFill>
                            <a:srgbClr val="1B2A2F"/>
                          </a:solidFill>
                        </a:rPr>
                        <a:t>384</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dirty="0">
                          <a:solidFill>
                            <a:srgbClr val="1B2A2F"/>
                          </a:solidFill>
                        </a:rPr>
                        <a:t>418</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b="1" dirty="0">
                          <a:solidFill>
                            <a:srgbClr val="1B2A2F"/>
                          </a:solidFill>
                        </a:rPr>
                        <a:t>435</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7C4"/>
                    </a:solidFill>
                  </a:tcPr>
                </a:tc>
              </a:tr>
              <a:tr h="457200">
                <a:tc>
                  <a:txBody>
                    <a:bodyPr/>
                    <a:lstStyle/>
                    <a:p>
                      <a:pPr indent="0" marL="0">
                        <a:buNone/>
                      </a:pPr>
                      <a:r>
                        <a:rPr lang="en-US" sz="1500" dirty="0">
                          <a:solidFill>
                            <a:srgbClr val="1B2A2F"/>
                          </a:solidFill>
                        </a:rPr>
                        <a:t>AC Level 2</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dirty="0">
                          <a:solidFill>
                            <a:srgbClr val="1B2A2F"/>
                          </a:solidFill>
                        </a:rPr>
                        <a:t>406</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dirty="0">
                          <a:solidFill>
                            <a:srgbClr val="1B2A2F"/>
                          </a:solidFill>
                        </a:rPr>
                        <a:t>479</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dirty="0">
                          <a:solidFill>
                            <a:srgbClr val="1B2A2F"/>
                          </a:solidFill>
                        </a:rPr>
                        <a:t>431</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b="1" dirty="0">
                          <a:solidFill>
                            <a:srgbClr val="1B2A2F"/>
                          </a:solidFill>
                        </a:rPr>
                        <a:t>448</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7C4"/>
                    </a:solidFill>
                  </a:tcPr>
                </a:tc>
              </a:tr>
              <a:tr h="457200">
                <a:tc>
                  <a:txBody>
                    <a:bodyPr/>
                    <a:lstStyle/>
                    <a:p>
                      <a:pPr indent="0" marL="0">
                        <a:buNone/>
                      </a:pPr>
                      <a:r>
                        <a:rPr lang="en-US" sz="1500" dirty="0">
                          <a:solidFill>
                            <a:srgbClr val="1B2A2F"/>
                          </a:solidFill>
                        </a:rPr>
                        <a:t>DC Fast</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dirty="0">
                          <a:solidFill>
                            <a:srgbClr val="1B2A2F"/>
                          </a:solidFill>
                        </a:rPr>
                        <a:t>398</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dirty="0">
                          <a:solidFill>
                            <a:srgbClr val="1B2A2F"/>
                          </a:solidFill>
                        </a:rPr>
                        <a:t>393</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dirty="0">
                          <a:solidFill>
                            <a:srgbClr val="1B2A2F"/>
                          </a:solidFill>
                        </a:rPr>
                        <a:t>434</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500" dirty="0">
                          <a:solidFill>
                            <a:srgbClr val="1B2A2F"/>
                          </a:solidFill>
                        </a:rPr>
                        <a:t>373</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r>
            </a:tbl>
          </a:graphicData>
        </a:graphic>
      </p:graphicFrame>
      <p:sp>
        <p:nvSpPr>
          <p:cNvPr id="5" name="Text 2"/>
          <p:cNvSpPr txBox="1"/>
          <p:nvPr/>
        </p:nvSpPr>
        <p:spPr>
          <a:xfrm>
            <a:off x="548640" y="3840480"/>
            <a:ext cx="6035040" cy="457200"/>
          </a:xfrm>
          <a:prstGeom prst="rect">
            <a:avLst/>
          </a:prstGeom>
          <a:noFill/>
          <a:ln/>
        </p:spPr>
        <p:txBody>
          <a:bodyPr wrap="square" lIns="0" tIns="0" rIns="0" bIns="0" rtlCol="0" anchor="ctr"/>
          <a:lstStyle/>
          <a:p>
            <a:pPr indent="0" marL="0">
              <a:buNone/>
            </a:pPr>
            <a:r>
              <a:rPr lang="en-US" sz="1500" i="1" dirty="0">
                <a:solidFill>
                  <a:schemeClr val="accent6"/>
                </a:solidFill>
              </a:rPr>
              <a:t>Real AC Level 1 chargers deliver only ≈ 2 kW, yet 435 are listed at 350 kW.</a:t>
            </a:r>
            <a:endParaRPr lang="en-US" sz="1500" dirty="0"/>
          </a:p>
        </p:txBody>
      </p:sp>
      <p:sp>
        <p:nvSpPr>
          <p:cNvPr id="6" name="Text 3"/>
          <p:cNvSpPr txBox="1"/>
          <p:nvPr/>
        </p:nvSpPr>
        <p:spPr>
          <a:xfrm>
            <a:off x="548640" y="4526280"/>
            <a:ext cx="6035040" cy="914400"/>
          </a:xfrm>
          <a:prstGeom prst="rect">
            <a:avLst/>
          </a:prstGeom>
          <a:noFill/>
          <a:ln/>
        </p:spPr>
        <p:txBody>
          <a:bodyPr wrap="square" lIns="0" tIns="0" rIns="0" bIns="0" rtlCol="0" anchor="ctr"/>
          <a:lstStyle/>
          <a:p>
            <a:pPr indent="0" marL="0">
              <a:spcAft>
                <a:spcPts val="600"/>
              </a:spcAft>
              <a:buNone/>
            </a:pPr>
            <a:r>
              <a:rPr lang="en-US" sz="1800" b="1" dirty="0">
                <a:solidFill>
                  <a:schemeClr val="tx2"/>
                </a:solidFill>
              </a:rPr>
              <a:t>Standard cleaning: nothing to fix</a:t>
            </a:r>
            <a:endParaRPr lang="en-US" sz="1500" dirty="0"/>
          </a:p>
          <a:p>
            <a:pPr indent="0" marL="0">
              <a:spcAft>
                <a:spcPts val="600"/>
              </a:spcAft>
              <a:buNone/>
            </a:pPr>
            <a:r>
              <a:rPr lang="en-US" sz="1500" dirty="0">
                <a:solidFill>
                  <a:schemeClr val="tx1"/>
                </a:solidFill>
              </a:rPr>
              <a:t>0 missing values  ·  0 duplicates  ·  0 outliers (box plots)</a:t>
            </a:r>
            <a:endParaRPr lang="en-US" sz="1500" dirty="0"/>
          </a:p>
        </p:txBody>
      </p:sp>
      <p:sp>
        <p:nvSpPr>
          <p:cNvPr id="7" name="Synthetic data warning"/>
          <p:cNvSpPr/>
          <p:nvPr/>
        </p:nvSpPr>
        <p:spPr>
          <a:xfrm>
            <a:off x="7040880" y="1325880"/>
            <a:ext cx="4572000" cy="4023360"/>
          </a:xfrm>
          <a:prstGeom prst="roundRect">
            <a:avLst>
              <a:gd name="adj" fmla="val 2727"/>
            </a:avLst>
          </a:prstGeom>
          <a:solidFill>
            <a:srgbClr val="FDF1DC"/>
          </a:solidFill>
          <a:ln/>
        </p:spPr>
      </p:sp>
      <p:sp>
        <p:nvSpPr>
          <p:cNvPr id="8" name="Warning circle"/>
          <p:cNvSpPr/>
          <p:nvPr/>
        </p:nvSpPr>
        <p:spPr>
          <a:xfrm>
            <a:off x="7269480" y="1554480"/>
            <a:ext cx="731520" cy="731520"/>
          </a:xfrm>
          <a:prstGeom prst="ellipse">
            <a:avLst/>
          </a:prstGeom>
          <a:solidFill>
            <a:schemeClr val="accent2"/>
          </a:solidFill>
          <a:ln/>
        </p:spPr>
      </p:sp>
      <p:pic>
        <p:nvPicPr>
          <p:cNvPr id="9" name="Warning icon" descr="preencoded.png">    </p:cNvPr>
          <p:cNvPicPr>
            <a:picLocks noChangeAspect="1"/>
          </p:cNvPicPr>
          <p:nvPr/>
        </p:nvPicPr>
        <p:blipFill>
          <a:blip r:embed="rId1"/>
          <a:stretch>
            <a:fillRect/>
          </a:stretch>
        </p:blipFill>
        <p:spPr>
          <a:xfrm>
            <a:off x="7430414" y="1715414"/>
            <a:ext cx="409651" cy="409651"/>
          </a:xfrm>
          <a:prstGeom prst="rect">
            <a:avLst/>
          </a:prstGeom>
        </p:spPr>
      </p:pic>
      <p:sp>
        <p:nvSpPr>
          <p:cNvPr id="10" name="Text 6"/>
          <p:cNvSpPr txBox="1"/>
          <p:nvPr/>
        </p:nvSpPr>
        <p:spPr>
          <a:xfrm>
            <a:off x="8183880" y="1691640"/>
            <a:ext cx="3291840" cy="457200"/>
          </a:xfrm>
          <a:prstGeom prst="rect">
            <a:avLst/>
          </a:prstGeom>
          <a:noFill/>
          <a:ln/>
        </p:spPr>
        <p:txBody>
          <a:bodyPr wrap="square" lIns="0" tIns="0" rIns="0" bIns="0" rtlCol="0" anchor="ctr"/>
          <a:lstStyle/>
          <a:p>
            <a:pPr indent="0" marL="0">
              <a:buNone/>
            </a:pPr>
            <a:r>
              <a:rPr lang="en-US" sz="2000" b="1" dirty="0">
                <a:solidFill>
                  <a:schemeClr val="tx2"/>
                </a:solidFill>
              </a:rPr>
              <a:t>The data looks synthetic</a:t>
            </a:r>
            <a:endParaRPr lang="en-US" sz="2000" dirty="0"/>
          </a:p>
        </p:txBody>
      </p:sp>
      <p:sp>
        <p:nvSpPr>
          <p:cNvPr id="11" name="Text 7"/>
          <p:cNvSpPr txBox="1"/>
          <p:nvPr/>
        </p:nvSpPr>
        <p:spPr>
          <a:xfrm>
            <a:off x="7269480" y="2514600"/>
            <a:ext cx="4114800" cy="265176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Impossible charger / capacity combinations</a:t>
            </a:r>
            <a:endParaRPr lang="en-US" sz="1600" dirty="0"/>
          </a:p>
          <a:p>
            <a:pPr marL="342900" indent="-342900">
              <a:spcAft>
                <a:spcPts val="1400"/>
              </a:spcAft>
              <a:buSzPct val="100000"/>
              <a:buChar char="•"/>
            </a:pPr>
            <a:r>
              <a:rPr lang="en-US" sz="1600" dirty="0">
                <a:solidFill>
                  <a:schemeClr val="tx1"/>
                </a:solidFill>
              </a:rPr>
              <a:t>Same average cost (≈ $0.30/kWh) for every charger type</a:t>
            </a:r>
            <a:endParaRPr lang="en-US" sz="1600" dirty="0"/>
          </a:p>
          <a:p>
            <a:pPr marL="342900" indent="-342900">
              <a:spcAft>
                <a:spcPts val="1400"/>
              </a:spcAft>
              <a:buSzPct val="100000"/>
              <a:buChar char="•"/>
            </a:pPr>
            <a:r>
              <a:rPr lang="en-US" sz="1600" dirty="0">
                <a:solidFill>
                  <a:schemeClr val="tx1"/>
                </a:solidFill>
              </a:rPr>
              <a:t>500 placeholder addresses ("Random Rd, City 98, Country")</a:t>
            </a:r>
            <a:endParaRPr lang="en-US" sz="1600" dirty="0"/>
          </a:p>
          <a:p>
            <a:pPr marL="342900" indent="-342900">
              <a:spcAft>
                <a:spcPts val="1400"/>
              </a:spcAft>
              <a:buSzPct val="100000"/>
              <a:buChar char="•"/>
            </a:pPr>
            <a:r>
              <a:rPr lang="en-US" sz="1600" dirty="0">
                <a:solidFill>
                  <a:schemeClr val="tx1"/>
                </a:solidFill>
              </a:rPr>
              <a:t>Every category almost perfectly balanced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Data Transformation Pipeline</a:t>
            </a:r>
            <a:endParaRPr lang="en-US" sz="3400" dirty="0"/>
          </a:p>
        </p:txBody>
      </p:sp>
      <p:sp>
        <p:nvSpPr>
          <p:cNvPr id="3" name="Step 1"/>
          <p:cNvSpPr/>
          <p:nvPr/>
        </p:nvSpPr>
        <p:spPr>
          <a:xfrm>
            <a:off x="548640" y="2103120"/>
            <a:ext cx="2011680" cy="2468880"/>
          </a:xfrm>
          <a:prstGeom prst="roundRect">
            <a:avLst>
              <a:gd name="adj" fmla="val 5455"/>
            </a:avLst>
          </a:prstGeom>
          <a:solidFill>
            <a:schemeClr val="bg2"/>
          </a:solidFill>
          <a:ln/>
        </p:spPr>
      </p:sp>
      <p:sp>
        <p:nvSpPr>
          <p:cNvPr id="4" name="Step 1 number"/>
          <p:cNvSpPr/>
          <p:nvPr/>
        </p:nvSpPr>
        <p:spPr>
          <a:xfrm>
            <a:off x="1188720" y="1645920"/>
            <a:ext cx="731520" cy="731520"/>
          </a:xfrm>
          <a:prstGeom prst="ellipse">
            <a:avLst/>
          </a:prstGeom>
          <a:solidFill>
            <a:schemeClr val="accent1"/>
          </a:solidFill>
          <a:ln w="38100">
            <a:solidFill>
              <a:srgbClr val="FFFFFF"/>
            </a:solidFill>
            <a:prstDash val="solid"/>
          </a:ln>
        </p:spPr>
      </p:sp>
      <p:sp>
        <p:nvSpPr>
          <p:cNvPr id="5" name="Text 3"/>
          <p:cNvSpPr txBox="1"/>
          <p:nvPr/>
        </p:nvSpPr>
        <p:spPr>
          <a:xfrm>
            <a:off x="118872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4"/>
          <p:cNvSpPr txBox="1"/>
          <p:nvPr/>
        </p:nvSpPr>
        <p:spPr>
          <a:xfrm>
            <a:off x="685800" y="2560320"/>
            <a:ext cx="1737360" cy="685800"/>
          </a:xfrm>
          <a:prstGeom prst="rect">
            <a:avLst/>
          </a:prstGeom>
          <a:noFill/>
          <a:ln/>
        </p:spPr>
        <p:txBody>
          <a:bodyPr wrap="square" lIns="0" tIns="0" rIns="0" bIns="0" rtlCol="0" anchor="ctr"/>
          <a:lstStyle/>
          <a:p>
            <a:pPr algn="ctr" indent="0" marL="0">
              <a:buNone/>
            </a:pPr>
            <a:r>
              <a:rPr lang="en-US" sz="1700" b="1" dirty="0">
                <a:solidFill>
                  <a:schemeClr val="tx2"/>
                </a:solidFill>
              </a:rPr>
              <a:t>Drop columns</a:t>
            </a:r>
            <a:endParaRPr lang="en-US" sz="1700" dirty="0"/>
          </a:p>
        </p:txBody>
      </p:sp>
      <p:sp>
        <p:nvSpPr>
          <p:cNvPr id="7" name="Text 5"/>
          <p:cNvSpPr txBox="1"/>
          <p:nvPr/>
        </p:nvSpPr>
        <p:spPr>
          <a:xfrm>
            <a:off x="685800" y="3291840"/>
            <a:ext cx="1737360" cy="1188720"/>
          </a:xfrm>
          <a:prstGeom prst="rect">
            <a:avLst/>
          </a:prstGeom>
          <a:noFill/>
          <a:ln/>
        </p:spPr>
        <p:txBody>
          <a:bodyPr wrap="square" lIns="0" tIns="0" rIns="0" bIns="0" rtlCol="0" anchor="t"/>
          <a:lstStyle/>
          <a:p>
            <a:pPr algn="ctr" indent="0" marL="0">
              <a:buNone/>
            </a:pPr>
            <a:r>
              <a:rPr lang="en-US" sz="1500" dirty="0">
                <a:solidFill>
                  <a:schemeClr val="tx1"/>
                </a:solidFill>
              </a:rPr>
              <a:t>Station ID, address, latitude and longitude</a:t>
            </a:r>
            <a:endParaRPr lang="en-US" sz="1500" dirty="0"/>
          </a:p>
        </p:txBody>
      </p:sp>
      <p:sp>
        <p:nvSpPr>
          <p:cNvPr id="8" name="Arrow 1"/>
          <p:cNvSpPr/>
          <p:nvPr/>
        </p:nvSpPr>
        <p:spPr>
          <a:xfrm>
            <a:off x="2578608" y="3200400"/>
            <a:ext cx="237744" cy="274320"/>
          </a:xfrm>
          <a:prstGeom prst="rightArrow">
            <a:avLst/>
          </a:prstGeom>
          <a:solidFill>
            <a:schemeClr val="accent4"/>
          </a:solidFill>
          <a:ln/>
        </p:spPr>
      </p:sp>
      <p:sp>
        <p:nvSpPr>
          <p:cNvPr id="9" name="Step 2"/>
          <p:cNvSpPr/>
          <p:nvPr/>
        </p:nvSpPr>
        <p:spPr>
          <a:xfrm>
            <a:off x="2811780" y="2103120"/>
            <a:ext cx="2011680" cy="2468880"/>
          </a:xfrm>
          <a:prstGeom prst="roundRect">
            <a:avLst>
              <a:gd name="adj" fmla="val 5455"/>
            </a:avLst>
          </a:prstGeom>
          <a:solidFill>
            <a:schemeClr val="bg2"/>
          </a:solidFill>
          <a:ln/>
        </p:spPr>
      </p:sp>
      <p:sp>
        <p:nvSpPr>
          <p:cNvPr id="10" name="Step 2 number"/>
          <p:cNvSpPr/>
          <p:nvPr/>
        </p:nvSpPr>
        <p:spPr>
          <a:xfrm>
            <a:off x="3451860" y="1645920"/>
            <a:ext cx="731520" cy="731520"/>
          </a:xfrm>
          <a:prstGeom prst="ellipse">
            <a:avLst/>
          </a:prstGeom>
          <a:solidFill>
            <a:schemeClr val="accent1"/>
          </a:solidFill>
          <a:ln w="38100">
            <a:solidFill>
              <a:srgbClr val="FFFFFF"/>
            </a:solidFill>
            <a:prstDash val="solid"/>
          </a:ln>
        </p:spPr>
      </p:sp>
      <p:sp>
        <p:nvSpPr>
          <p:cNvPr id="11" name="Text 9"/>
          <p:cNvSpPr txBox="1"/>
          <p:nvPr/>
        </p:nvSpPr>
        <p:spPr>
          <a:xfrm>
            <a:off x="345186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 10"/>
          <p:cNvSpPr txBox="1"/>
          <p:nvPr/>
        </p:nvSpPr>
        <p:spPr>
          <a:xfrm>
            <a:off x="2948940" y="2560320"/>
            <a:ext cx="1737360" cy="685800"/>
          </a:xfrm>
          <a:prstGeom prst="rect">
            <a:avLst/>
          </a:prstGeom>
          <a:noFill/>
          <a:ln/>
        </p:spPr>
        <p:txBody>
          <a:bodyPr wrap="square" lIns="0" tIns="0" rIns="0" bIns="0" rtlCol="0" anchor="ctr"/>
          <a:lstStyle/>
          <a:p>
            <a:pPr algn="ctr" indent="0" marL="0">
              <a:buNone/>
            </a:pPr>
            <a:r>
              <a:rPr lang="en-US" sz="1700" b="1" dirty="0">
                <a:solidFill>
                  <a:schemeClr val="tx2"/>
                </a:solidFill>
              </a:rPr>
              <a:t>Feature engineering</a:t>
            </a:r>
            <a:endParaRPr lang="en-US" sz="1700" dirty="0"/>
          </a:p>
        </p:txBody>
      </p:sp>
      <p:sp>
        <p:nvSpPr>
          <p:cNvPr id="13" name="Text 11"/>
          <p:cNvSpPr txBox="1"/>
          <p:nvPr/>
        </p:nvSpPr>
        <p:spPr>
          <a:xfrm>
            <a:off x="2948940" y="3291840"/>
            <a:ext cx="1737360" cy="1188720"/>
          </a:xfrm>
          <a:prstGeom prst="rect">
            <a:avLst/>
          </a:prstGeom>
          <a:noFill/>
          <a:ln/>
        </p:spPr>
        <p:txBody>
          <a:bodyPr wrap="square" lIns="0" tIns="0" rIns="0" bIns="0" rtlCol="0" anchor="t"/>
          <a:lstStyle/>
          <a:p>
            <a:pPr algn="ctr" indent="0" marL="0">
              <a:buNone/>
            </a:pPr>
            <a:r>
              <a:rPr lang="en-US" sz="1500" dirty="0">
                <a:solidFill>
                  <a:schemeClr val="tx1"/>
                </a:solidFill>
              </a:rPr>
              <a:t>New Station Age = 2025 − installation year</a:t>
            </a:r>
            <a:endParaRPr lang="en-US" sz="1500" dirty="0"/>
          </a:p>
        </p:txBody>
      </p:sp>
      <p:sp>
        <p:nvSpPr>
          <p:cNvPr id="14" name="Arrow 2"/>
          <p:cNvSpPr/>
          <p:nvPr/>
        </p:nvSpPr>
        <p:spPr>
          <a:xfrm>
            <a:off x="4841748" y="3200400"/>
            <a:ext cx="237744" cy="274320"/>
          </a:xfrm>
          <a:prstGeom prst="rightArrow">
            <a:avLst/>
          </a:prstGeom>
          <a:solidFill>
            <a:schemeClr val="accent4"/>
          </a:solidFill>
          <a:ln/>
        </p:spPr>
      </p:sp>
      <p:sp>
        <p:nvSpPr>
          <p:cNvPr id="15" name="Step 3"/>
          <p:cNvSpPr/>
          <p:nvPr/>
        </p:nvSpPr>
        <p:spPr>
          <a:xfrm>
            <a:off x="5074920" y="2103120"/>
            <a:ext cx="2011680" cy="2468880"/>
          </a:xfrm>
          <a:prstGeom prst="roundRect">
            <a:avLst>
              <a:gd name="adj" fmla="val 5455"/>
            </a:avLst>
          </a:prstGeom>
          <a:solidFill>
            <a:schemeClr val="bg2"/>
          </a:solidFill>
          <a:ln/>
        </p:spPr>
      </p:sp>
      <p:sp>
        <p:nvSpPr>
          <p:cNvPr id="16" name="Step 3 number"/>
          <p:cNvSpPr/>
          <p:nvPr/>
        </p:nvSpPr>
        <p:spPr>
          <a:xfrm>
            <a:off x="5715000" y="1645920"/>
            <a:ext cx="731520" cy="731520"/>
          </a:xfrm>
          <a:prstGeom prst="ellipse">
            <a:avLst/>
          </a:prstGeom>
          <a:solidFill>
            <a:schemeClr val="accent1"/>
          </a:solidFill>
          <a:ln w="38100">
            <a:solidFill>
              <a:srgbClr val="FFFFFF"/>
            </a:solidFill>
            <a:prstDash val="solid"/>
          </a:ln>
        </p:spPr>
      </p:sp>
      <p:sp>
        <p:nvSpPr>
          <p:cNvPr id="17" name="Text 15"/>
          <p:cNvSpPr txBox="1"/>
          <p:nvPr/>
        </p:nvSpPr>
        <p:spPr>
          <a:xfrm>
            <a:off x="571500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8" name="Text 16"/>
          <p:cNvSpPr txBox="1"/>
          <p:nvPr/>
        </p:nvSpPr>
        <p:spPr>
          <a:xfrm>
            <a:off x="5212080" y="2560320"/>
            <a:ext cx="1737360" cy="685800"/>
          </a:xfrm>
          <a:prstGeom prst="rect">
            <a:avLst/>
          </a:prstGeom>
          <a:noFill/>
          <a:ln/>
        </p:spPr>
        <p:txBody>
          <a:bodyPr wrap="square" lIns="0" tIns="0" rIns="0" bIns="0" rtlCol="0" anchor="ctr"/>
          <a:lstStyle/>
          <a:p>
            <a:pPr algn="ctr" indent="0" marL="0">
              <a:buNone/>
            </a:pPr>
            <a:r>
              <a:rPr lang="en-US" sz="1700" b="1" dirty="0">
                <a:solidFill>
                  <a:schemeClr val="tx2"/>
                </a:solidFill>
              </a:rPr>
              <a:t>One-hot encoding</a:t>
            </a:r>
            <a:endParaRPr lang="en-US" sz="1700" dirty="0"/>
          </a:p>
        </p:txBody>
      </p:sp>
      <p:sp>
        <p:nvSpPr>
          <p:cNvPr id="19" name="Text 17"/>
          <p:cNvSpPr txBox="1"/>
          <p:nvPr/>
        </p:nvSpPr>
        <p:spPr>
          <a:xfrm>
            <a:off x="5212080" y="3291840"/>
            <a:ext cx="1737360" cy="1188720"/>
          </a:xfrm>
          <a:prstGeom prst="rect">
            <a:avLst/>
          </a:prstGeom>
          <a:noFill/>
          <a:ln/>
        </p:spPr>
        <p:txBody>
          <a:bodyPr wrap="square" lIns="0" tIns="0" rIns="0" bIns="0" rtlCol="0" anchor="t"/>
          <a:lstStyle/>
          <a:p>
            <a:pPr algn="ctr" indent="0" marL="0">
              <a:buNone/>
            </a:pPr>
            <a:r>
              <a:rPr lang="en-US" sz="1500" dirty="0">
                <a:solidFill>
                  <a:schemeClr val="tx1"/>
                </a:solidFill>
              </a:rPr>
              <a:t>6 text columns → 32 numeric input features</a:t>
            </a:r>
            <a:endParaRPr lang="en-US" sz="1500" dirty="0"/>
          </a:p>
        </p:txBody>
      </p:sp>
      <p:sp>
        <p:nvSpPr>
          <p:cNvPr id="20" name="Arrow 3"/>
          <p:cNvSpPr/>
          <p:nvPr/>
        </p:nvSpPr>
        <p:spPr>
          <a:xfrm>
            <a:off x="7104888" y="3200400"/>
            <a:ext cx="237744" cy="274320"/>
          </a:xfrm>
          <a:prstGeom prst="rightArrow">
            <a:avLst/>
          </a:prstGeom>
          <a:solidFill>
            <a:schemeClr val="accent4"/>
          </a:solidFill>
          <a:ln/>
        </p:spPr>
      </p:sp>
      <p:sp>
        <p:nvSpPr>
          <p:cNvPr id="21" name="Step 4"/>
          <p:cNvSpPr/>
          <p:nvPr/>
        </p:nvSpPr>
        <p:spPr>
          <a:xfrm>
            <a:off x="7338060" y="2103120"/>
            <a:ext cx="2011680" cy="2468880"/>
          </a:xfrm>
          <a:prstGeom prst="roundRect">
            <a:avLst>
              <a:gd name="adj" fmla="val 5455"/>
            </a:avLst>
          </a:prstGeom>
          <a:solidFill>
            <a:schemeClr val="bg2"/>
          </a:solidFill>
          <a:ln/>
        </p:spPr>
      </p:sp>
      <p:sp>
        <p:nvSpPr>
          <p:cNvPr id="22" name="Step 4 number"/>
          <p:cNvSpPr/>
          <p:nvPr/>
        </p:nvSpPr>
        <p:spPr>
          <a:xfrm>
            <a:off x="7978140" y="1645920"/>
            <a:ext cx="731520" cy="731520"/>
          </a:xfrm>
          <a:prstGeom prst="ellipse">
            <a:avLst/>
          </a:prstGeom>
          <a:solidFill>
            <a:schemeClr val="accent1"/>
          </a:solidFill>
          <a:ln w="38100">
            <a:solidFill>
              <a:srgbClr val="FFFFFF"/>
            </a:solidFill>
            <a:prstDash val="solid"/>
          </a:ln>
        </p:spPr>
      </p:sp>
      <p:sp>
        <p:nvSpPr>
          <p:cNvPr id="23" name="Text 21"/>
          <p:cNvSpPr txBox="1"/>
          <p:nvPr/>
        </p:nvSpPr>
        <p:spPr>
          <a:xfrm>
            <a:off x="797814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4" name="Text 22"/>
          <p:cNvSpPr txBox="1"/>
          <p:nvPr/>
        </p:nvSpPr>
        <p:spPr>
          <a:xfrm>
            <a:off x="7475220" y="2560320"/>
            <a:ext cx="1737360" cy="685800"/>
          </a:xfrm>
          <a:prstGeom prst="rect">
            <a:avLst/>
          </a:prstGeom>
          <a:noFill/>
          <a:ln/>
        </p:spPr>
        <p:txBody>
          <a:bodyPr wrap="square" lIns="0" tIns="0" rIns="0" bIns="0" rtlCol="0" anchor="ctr"/>
          <a:lstStyle/>
          <a:p>
            <a:pPr algn="ctr" indent="0" marL="0">
              <a:buNone/>
            </a:pPr>
            <a:r>
              <a:rPr lang="en-US" sz="1700" b="1" dirty="0">
                <a:solidFill>
                  <a:schemeClr val="tx2"/>
                </a:solidFill>
              </a:rPr>
              <a:t>Train / test split</a:t>
            </a:r>
            <a:endParaRPr lang="en-US" sz="1700" dirty="0"/>
          </a:p>
        </p:txBody>
      </p:sp>
      <p:sp>
        <p:nvSpPr>
          <p:cNvPr id="25" name="Text 23"/>
          <p:cNvSpPr txBox="1"/>
          <p:nvPr/>
        </p:nvSpPr>
        <p:spPr>
          <a:xfrm>
            <a:off x="7475220" y="3291840"/>
            <a:ext cx="1737360" cy="1188720"/>
          </a:xfrm>
          <a:prstGeom prst="rect">
            <a:avLst/>
          </a:prstGeom>
          <a:noFill/>
          <a:ln/>
        </p:spPr>
        <p:txBody>
          <a:bodyPr wrap="square" lIns="0" tIns="0" rIns="0" bIns="0" rtlCol="0" anchor="t"/>
          <a:lstStyle/>
          <a:p>
            <a:pPr algn="ctr" indent="0" marL="0">
              <a:buNone/>
            </a:pPr>
            <a:r>
              <a:rPr lang="en-US" sz="1500" dirty="0">
                <a:solidFill>
                  <a:schemeClr val="tx1"/>
                </a:solidFill>
              </a:rPr>
              <a:t>80% train (4,000)</a:t>
            </a:r>
            <a:endParaRPr lang="en-US" sz="1500" dirty="0"/>
          </a:p>
          <a:p>
            <a:pPr algn="ctr" indent="0" marL="0">
              <a:buNone/>
            </a:pPr>
            <a:r>
              <a:rPr lang="en-US" sz="1500" dirty="0">
                <a:solidFill>
                  <a:schemeClr val="tx1"/>
                </a:solidFill>
              </a:rPr>
              <a:t>20% test (1,000)</a:t>
            </a:r>
            <a:endParaRPr lang="en-US" sz="1500" dirty="0"/>
          </a:p>
        </p:txBody>
      </p:sp>
      <p:sp>
        <p:nvSpPr>
          <p:cNvPr id="26" name="Arrow 4"/>
          <p:cNvSpPr/>
          <p:nvPr/>
        </p:nvSpPr>
        <p:spPr>
          <a:xfrm>
            <a:off x="9368028" y="3200400"/>
            <a:ext cx="237744" cy="274320"/>
          </a:xfrm>
          <a:prstGeom prst="rightArrow">
            <a:avLst/>
          </a:prstGeom>
          <a:solidFill>
            <a:schemeClr val="accent4"/>
          </a:solidFill>
          <a:ln/>
        </p:spPr>
      </p:sp>
      <p:sp>
        <p:nvSpPr>
          <p:cNvPr id="27" name="Step 5"/>
          <p:cNvSpPr/>
          <p:nvPr/>
        </p:nvSpPr>
        <p:spPr>
          <a:xfrm>
            <a:off x="9601200" y="2103120"/>
            <a:ext cx="2011680" cy="2468880"/>
          </a:xfrm>
          <a:prstGeom prst="roundRect">
            <a:avLst>
              <a:gd name="adj" fmla="val 5455"/>
            </a:avLst>
          </a:prstGeom>
          <a:solidFill>
            <a:schemeClr val="bg2"/>
          </a:solidFill>
          <a:ln/>
        </p:spPr>
      </p:sp>
      <p:sp>
        <p:nvSpPr>
          <p:cNvPr id="28" name="Step 5 number"/>
          <p:cNvSpPr/>
          <p:nvPr/>
        </p:nvSpPr>
        <p:spPr>
          <a:xfrm>
            <a:off x="10241280" y="1645920"/>
            <a:ext cx="731520" cy="731520"/>
          </a:xfrm>
          <a:prstGeom prst="ellipse">
            <a:avLst/>
          </a:prstGeom>
          <a:solidFill>
            <a:schemeClr val="accent1"/>
          </a:solidFill>
          <a:ln w="38100">
            <a:solidFill>
              <a:srgbClr val="FFFFFF"/>
            </a:solidFill>
            <a:prstDash val="solid"/>
          </a:ln>
        </p:spPr>
      </p:sp>
      <p:sp>
        <p:nvSpPr>
          <p:cNvPr id="29" name="Text 27"/>
          <p:cNvSpPr txBox="1"/>
          <p:nvPr/>
        </p:nvSpPr>
        <p:spPr>
          <a:xfrm>
            <a:off x="10241280" y="1645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30" name="Text 28"/>
          <p:cNvSpPr txBox="1"/>
          <p:nvPr/>
        </p:nvSpPr>
        <p:spPr>
          <a:xfrm>
            <a:off x="9738360" y="2560320"/>
            <a:ext cx="1737360" cy="685800"/>
          </a:xfrm>
          <a:prstGeom prst="rect">
            <a:avLst/>
          </a:prstGeom>
          <a:noFill/>
          <a:ln/>
        </p:spPr>
        <p:txBody>
          <a:bodyPr wrap="square" lIns="0" tIns="0" rIns="0" bIns="0" rtlCol="0" anchor="ctr"/>
          <a:lstStyle/>
          <a:p>
            <a:pPr algn="ctr" indent="0" marL="0">
              <a:buNone/>
            </a:pPr>
            <a:r>
              <a:rPr lang="en-US" sz="1700" b="1" dirty="0">
                <a:solidFill>
                  <a:schemeClr val="tx2"/>
                </a:solidFill>
              </a:rPr>
              <a:t>Scaling</a:t>
            </a:r>
            <a:endParaRPr lang="en-US" sz="1700" dirty="0"/>
          </a:p>
        </p:txBody>
      </p:sp>
      <p:sp>
        <p:nvSpPr>
          <p:cNvPr id="31" name="Text 29"/>
          <p:cNvSpPr txBox="1"/>
          <p:nvPr/>
        </p:nvSpPr>
        <p:spPr>
          <a:xfrm>
            <a:off x="9738360" y="3291840"/>
            <a:ext cx="1737360" cy="1188720"/>
          </a:xfrm>
          <a:prstGeom prst="rect">
            <a:avLst/>
          </a:prstGeom>
          <a:noFill/>
          <a:ln/>
        </p:spPr>
        <p:txBody>
          <a:bodyPr wrap="square" lIns="0" tIns="0" rIns="0" bIns="0" rtlCol="0" anchor="t"/>
          <a:lstStyle/>
          <a:p>
            <a:pPr algn="ctr" indent="0" marL="0">
              <a:buNone/>
            </a:pPr>
            <a:r>
              <a:rPr lang="en-US" sz="1500" dirty="0">
                <a:solidFill>
                  <a:schemeClr val="tx1"/>
                </a:solidFill>
              </a:rPr>
              <a:t>StandardScaler fitted on training data only</a:t>
            </a:r>
            <a:endParaRPr lang="en-US" sz="1500" dirty="0"/>
          </a:p>
        </p:txBody>
      </p:sp>
      <p:sp>
        <p:nvSpPr>
          <p:cNvPr id="32" name="Leakage note"/>
          <p:cNvSpPr/>
          <p:nvPr/>
        </p:nvSpPr>
        <p:spPr>
          <a:xfrm>
            <a:off x="548640" y="4983480"/>
            <a:ext cx="11064240" cy="822960"/>
          </a:xfrm>
          <a:prstGeom prst="roundRect">
            <a:avLst>
              <a:gd name="adj" fmla="val 13333"/>
            </a:avLst>
          </a:prstGeom>
          <a:solidFill>
            <a:schemeClr val="bg2"/>
          </a:solidFill>
          <a:ln/>
        </p:spPr>
      </p:sp>
      <p:sp>
        <p:nvSpPr>
          <p:cNvPr id="33" name="Text 31"/>
          <p:cNvSpPr txBox="1"/>
          <p:nvPr/>
        </p:nvSpPr>
        <p:spPr>
          <a:xfrm>
            <a:off x="777240" y="4983480"/>
            <a:ext cx="10607040" cy="822960"/>
          </a:xfrm>
          <a:prstGeom prst="rect">
            <a:avLst/>
          </a:prstGeom>
          <a:noFill/>
          <a:ln/>
        </p:spPr>
        <p:txBody>
          <a:bodyPr wrap="square" lIns="0" tIns="0" rIns="0" bIns="0" rtlCol="0" anchor="ctr"/>
          <a:lstStyle/>
          <a:p>
            <a:pPr indent="0" marL="0">
              <a:buNone/>
            </a:pPr>
            <a:r>
              <a:rPr lang="en-US" sz="1600" b="1" dirty="0">
                <a:solidFill>
                  <a:schemeClr val="tx2"/>
                </a:solidFill>
              </a:rPr>
              <a:t>Why scale after splitting? </a:t>
            </a:r>
            <a:pPr indent="0" marL="0">
              <a:buNone/>
            </a:pPr>
            <a:r>
              <a:rPr lang="en-US" sz="1600" dirty="0">
                <a:solidFill>
                  <a:schemeClr val="tx1"/>
                </a:solidFill>
              </a:rPr>
              <a:t>Fitting the scaler on training data only stops test-set information leaking into the model.</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Predictive Modelling Approach</a:t>
            </a:r>
            <a:endParaRPr lang="en-US" sz="34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i="1" dirty="0">
                <a:solidFill>
                  <a:schemeClr val="accent6"/>
                </a:solidFill>
              </a:rPr>
              <a:t>Four regression algorithms of increasing flexibility, all compared against a simple baseline</a:t>
            </a:r>
            <a:endParaRPr lang="en-US" sz="1700" dirty="0"/>
          </a:p>
        </p:txBody>
      </p:sp>
      <p:sp>
        <p:nvSpPr>
          <p:cNvPr id="4" name="Model card 1"/>
          <p:cNvSpPr/>
          <p:nvPr/>
        </p:nvSpPr>
        <p:spPr>
          <a:xfrm>
            <a:off x="548640" y="1828800"/>
            <a:ext cx="2057400" cy="4023360"/>
          </a:xfrm>
          <a:prstGeom prst="roundRect">
            <a:avLst>
              <a:gd name="adj" fmla="val 5333"/>
            </a:avLst>
          </a:prstGeom>
          <a:solidFill>
            <a:schemeClr val="bg2"/>
          </a:solidFill>
          <a:ln/>
        </p:spPr>
      </p:sp>
      <p:sp>
        <p:nvSpPr>
          <p:cNvPr id="5" name="Model card 1 circle"/>
          <p:cNvSpPr/>
          <p:nvPr/>
        </p:nvSpPr>
        <p:spPr>
          <a:xfrm>
            <a:off x="1143000" y="2103120"/>
            <a:ext cx="868680" cy="868680"/>
          </a:xfrm>
          <a:prstGeom prst="ellipse">
            <a:avLst/>
          </a:prstGeom>
          <a:solidFill>
            <a:schemeClr val="accent6"/>
          </a:solidFill>
          <a:ln/>
        </p:spPr>
      </p:sp>
      <p:pic>
        <p:nvPicPr>
          <p:cNvPr id="6" name="Model card 1 icon" descr="preencoded.png">    </p:cNvPr>
          <p:cNvPicPr>
            <a:picLocks noChangeAspect="1"/>
          </p:cNvPicPr>
          <p:nvPr/>
        </p:nvPicPr>
        <p:blipFill>
          <a:blip r:embed="rId1"/>
          <a:stretch>
            <a:fillRect/>
          </a:stretch>
        </p:blipFill>
        <p:spPr>
          <a:xfrm>
            <a:off x="1334110" y="2294230"/>
            <a:ext cx="486461" cy="486461"/>
          </a:xfrm>
          <a:prstGeom prst="rect">
            <a:avLst/>
          </a:prstGeom>
        </p:spPr>
      </p:pic>
      <p:sp>
        <p:nvSpPr>
          <p:cNvPr id="7" name="Text 4"/>
          <p:cNvSpPr txBox="1"/>
          <p:nvPr/>
        </p:nvSpPr>
        <p:spPr>
          <a:xfrm>
            <a:off x="658368" y="3108960"/>
            <a:ext cx="1828800" cy="685800"/>
          </a:xfrm>
          <a:prstGeom prst="rect">
            <a:avLst/>
          </a:prstGeom>
          <a:noFill/>
          <a:ln/>
        </p:spPr>
        <p:txBody>
          <a:bodyPr wrap="square" lIns="0" tIns="0" rIns="0" bIns="0" rtlCol="0" anchor="ctr"/>
          <a:lstStyle/>
          <a:p>
            <a:pPr algn="ctr" indent="0" marL="0">
              <a:buNone/>
            </a:pPr>
            <a:r>
              <a:rPr lang="en-US" sz="1800" b="1" dirty="0">
                <a:solidFill>
                  <a:schemeClr val="tx2"/>
                </a:solidFill>
              </a:rPr>
              <a:t>Baseline</a:t>
            </a:r>
            <a:endParaRPr lang="en-US" sz="1800" dirty="0"/>
          </a:p>
        </p:txBody>
      </p:sp>
      <p:sp>
        <p:nvSpPr>
          <p:cNvPr id="8" name="Text 5"/>
          <p:cNvSpPr txBox="1"/>
          <p:nvPr/>
        </p:nvSpPr>
        <p:spPr>
          <a:xfrm>
            <a:off x="685800" y="3840480"/>
            <a:ext cx="1783080" cy="960120"/>
          </a:xfrm>
          <a:prstGeom prst="rect">
            <a:avLst/>
          </a:prstGeom>
          <a:noFill/>
          <a:ln/>
        </p:spPr>
        <p:txBody>
          <a:bodyPr wrap="square" lIns="0" tIns="0" rIns="0" bIns="0" rtlCol="0" anchor="t"/>
          <a:lstStyle/>
          <a:p>
            <a:pPr algn="ctr" indent="0" marL="0">
              <a:buNone/>
            </a:pPr>
            <a:r>
              <a:rPr lang="en-US" sz="1500" dirty="0">
                <a:solidFill>
                  <a:schemeClr val="tx1"/>
                </a:solidFill>
              </a:rPr>
              <a:t>Always predicts the training average</a:t>
            </a:r>
            <a:endParaRPr lang="en-US" sz="1500" dirty="0"/>
          </a:p>
        </p:txBody>
      </p:sp>
      <p:sp>
        <p:nvSpPr>
          <p:cNvPr id="9" name="Text 6"/>
          <p:cNvSpPr txBox="1"/>
          <p:nvPr/>
        </p:nvSpPr>
        <p:spPr>
          <a:xfrm>
            <a:off x="685800" y="4892040"/>
            <a:ext cx="1783080" cy="777240"/>
          </a:xfrm>
          <a:prstGeom prst="rect">
            <a:avLst/>
          </a:prstGeom>
          <a:noFill/>
          <a:ln/>
        </p:spPr>
        <p:txBody>
          <a:bodyPr wrap="square" lIns="0" tIns="0" rIns="0" bIns="0" rtlCol="0" anchor="t"/>
          <a:lstStyle/>
          <a:p>
            <a:pPr algn="ctr" indent="0" marL="0">
              <a:buNone/>
            </a:pPr>
            <a:r>
              <a:rPr lang="en-US" sz="1400" i="1" dirty="0">
                <a:solidFill>
                  <a:schemeClr val="accent3"/>
                </a:solidFill>
              </a:rPr>
              <a:t>The minimum bar a model must beat</a:t>
            </a:r>
            <a:endParaRPr lang="en-US" sz="1400" dirty="0"/>
          </a:p>
        </p:txBody>
      </p:sp>
      <p:sp>
        <p:nvSpPr>
          <p:cNvPr id="10" name="Model card 2"/>
          <p:cNvSpPr/>
          <p:nvPr/>
        </p:nvSpPr>
        <p:spPr>
          <a:xfrm>
            <a:off x="2816352" y="1828800"/>
            <a:ext cx="2057400" cy="4023360"/>
          </a:xfrm>
          <a:prstGeom prst="roundRect">
            <a:avLst>
              <a:gd name="adj" fmla="val 5333"/>
            </a:avLst>
          </a:prstGeom>
          <a:solidFill>
            <a:schemeClr val="bg2"/>
          </a:solidFill>
          <a:ln/>
        </p:spPr>
      </p:sp>
      <p:sp>
        <p:nvSpPr>
          <p:cNvPr id="11" name="Model card 2 circle"/>
          <p:cNvSpPr/>
          <p:nvPr/>
        </p:nvSpPr>
        <p:spPr>
          <a:xfrm>
            <a:off x="3410712" y="2103120"/>
            <a:ext cx="868680" cy="868680"/>
          </a:xfrm>
          <a:prstGeom prst="ellipse">
            <a:avLst/>
          </a:prstGeom>
          <a:solidFill>
            <a:schemeClr val="accent1"/>
          </a:solidFill>
          <a:ln/>
        </p:spPr>
      </p:sp>
      <p:pic>
        <p:nvPicPr>
          <p:cNvPr id="12" name="Model card 2 icon" descr="preencoded.png">    </p:cNvPr>
          <p:cNvPicPr>
            <a:picLocks noChangeAspect="1"/>
          </p:cNvPicPr>
          <p:nvPr/>
        </p:nvPicPr>
        <p:blipFill>
          <a:blip r:embed="rId2"/>
          <a:stretch>
            <a:fillRect/>
          </a:stretch>
        </p:blipFill>
        <p:spPr>
          <a:xfrm>
            <a:off x="3601822" y="2294230"/>
            <a:ext cx="486461" cy="486461"/>
          </a:xfrm>
          <a:prstGeom prst="rect">
            <a:avLst/>
          </a:prstGeom>
        </p:spPr>
      </p:pic>
      <p:sp>
        <p:nvSpPr>
          <p:cNvPr id="13" name="Text 9"/>
          <p:cNvSpPr txBox="1"/>
          <p:nvPr/>
        </p:nvSpPr>
        <p:spPr>
          <a:xfrm>
            <a:off x="2926080" y="3108960"/>
            <a:ext cx="1828800" cy="685800"/>
          </a:xfrm>
          <a:prstGeom prst="rect">
            <a:avLst/>
          </a:prstGeom>
          <a:noFill/>
          <a:ln/>
        </p:spPr>
        <p:txBody>
          <a:bodyPr wrap="square" lIns="0" tIns="0" rIns="0" bIns="0" rtlCol="0" anchor="ctr"/>
          <a:lstStyle/>
          <a:p>
            <a:pPr algn="ctr" indent="0" marL="0">
              <a:buNone/>
            </a:pPr>
            <a:r>
              <a:rPr lang="en-US" sz="1800" b="1" dirty="0">
                <a:solidFill>
                  <a:schemeClr val="tx2"/>
                </a:solidFill>
              </a:rPr>
              <a:t>Linear Regression</a:t>
            </a:r>
            <a:endParaRPr lang="en-US" sz="1800" dirty="0"/>
          </a:p>
        </p:txBody>
      </p:sp>
      <p:sp>
        <p:nvSpPr>
          <p:cNvPr id="14" name="Text 10"/>
          <p:cNvSpPr txBox="1"/>
          <p:nvPr/>
        </p:nvSpPr>
        <p:spPr>
          <a:xfrm>
            <a:off x="2953512" y="3840480"/>
            <a:ext cx="1783080" cy="960120"/>
          </a:xfrm>
          <a:prstGeom prst="rect">
            <a:avLst/>
          </a:prstGeom>
          <a:noFill/>
          <a:ln/>
        </p:spPr>
        <p:txBody>
          <a:bodyPr wrap="square" lIns="0" tIns="0" rIns="0" bIns="0" rtlCol="0" anchor="t"/>
          <a:lstStyle/>
          <a:p>
            <a:pPr algn="ctr" indent="0" marL="0">
              <a:buNone/>
            </a:pPr>
            <a:r>
              <a:rPr lang="en-US" sz="1500" dirty="0">
                <a:solidFill>
                  <a:schemeClr val="tx1"/>
                </a:solidFill>
              </a:rPr>
              <a:t>Fits a straight-line relationship</a:t>
            </a:r>
            <a:endParaRPr lang="en-US" sz="1500" dirty="0"/>
          </a:p>
        </p:txBody>
      </p:sp>
      <p:sp>
        <p:nvSpPr>
          <p:cNvPr id="15" name="Text 11"/>
          <p:cNvSpPr txBox="1"/>
          <p:nvPr/>
        </p:nvSpPr>
        <p:spPr>
          <a:xfrm>
            <a:off x="2953512" y="4892040"/>
            <a:ext cx="1783080" cy="777240"/>
          </a:xfrm>
          <a:prstGeom prst="rect">
            <a:avLst/>
          </a:prstGeom>
          <a:noFill/>
          <a:ln/>
        </p:spPr>
        <p:txBody>
          <a:bodyPr wrap="square" lIns="0" tIns="0" rIns="0" bIns="0" rtlCol="0" anchor="t"/>
          <a:lstStyle/>
          <a:p>
            <a:pPr algn="ctr" indent="0" marL="0">
              <a:buNone/>
            </a:pPr>
            <a:r>
              <a:rPr lang="en-US" sz="1400" i="1" dirty="0">
                <a:solidFill>
                  <a:schemeClr val="accent3"/>
                </a:solidFill>
              </a:rPr>
              <a:t>Simple and interpretable</a:t>
            </a:r>
            <a:endParaRPr lang="en-US" sz="1400" dirty="0"/>
          </a:p>
        </p:txBody>
      </p:sp>
      <p:sp>
        <p:nvSpPr>
          <p:cNvPr id="16" name="Model card 3"/>
          <p:cNvSpPr/>
          <p:nvPr/>
        </p:nvSpPr>
        <p:spPr>
          <a:xfrm>
            <a:off x="5084064" y="1828800"/>
            <a:ext cx="2057400" cy="4023360"/>
          </a:xfrm>
          <a:prstGeom prst="roundRect">
            <a:avLst>
              <a:gd name="adj" fmla="val 5333"/>
            </a:avLst>
          </a:prstGeom>
          <a:solidFill>
            <a:schemeClr val="bg2"/>
          </a:solidFill>
          <a:ln/>
        </p:spPr>
      </p:sp>
      <p:sp>
        <p:nvSpPr>
          <p:cNvPr id="17" name="Model card 3 circle"/>
          <p:cNvSpPr/>
          <p:nvPr/>
        </p:nvSpPr>
        <p:spPr>
          <a:xfrm>
            <a:off x="5678424" y="2103120"/>
            <a:ext cx="868680" cy="868680"/>
          </a:xfrm>
          <a:prstGeom prst="ellipse">
            <a:avLst/>
          </a:prstGeom>
          <a:solidFill>
            <a:schemeClr val="accent1"/>
          </a:solidFill>
          <a:ln/>
        </p:spPr>
      </p:sp>
      <p:pic>
        <p:nvPicPr>
          <p:cNvPr id="18" name="Model card 3 icon" descr="preencoded.png">    </p:cNvPr>
          <p:cNvPicPr>
            <a:picLocks noChangeAspect="1"/>
          </p:cNvPicPr>
          <p:nvPr/>
        </p:nvPicPr>
        <p:blipFill>
          <a:blip r:embed="rId3"/>
          <a:stretch>
            <a:fillRect/>
          </a:stretch>
        </p:blipFill>
        <p:spPr>
          <a:xfrm>
            <a:off x="5869534" y="2294230"/>
            <a:ext cx="486461" cy="486461"/>
          </a:xfrm>
          <a:prstGeom prst="rect">
            <a:avLst/>
          </a:prstGeom>
        </p:spPr>
      </p:pic>
      <p:sp>
        <p:nvSpPr>
          <p:cNvPr id="19" name="Text 14"/>
          <p:cNvSpPr txBox="1"/>
          <p:nvPr/>
        </p:nvSpPr>
        <p:spPr>
          <a:xfrm>
            <a:off x="5193792" y="3108960"/>
            <a:ext cx="1828800" cy="685800"/>
          </a:xfrm>
          <a:prstGeom prst="rect">
            <a:avLst/>
          </a:prstGeom>
          <a:noFill/>
          <a:ln/>
        </p:spPr>
        <p:txBody>
          <a:bodyPr wrap="square" lIns="0" tIns="0" rIns="0" bIns="0" rtlCol="0" anchor="ctr"/>
          <a:lstStyle/>
          <a:p>
            <a:pPr algn="ctr" indent="0" marL="0">
              <a:buNone/>
            </a:pPr>
            <a:r>
              <a:rPr lang="en-US" sz="1800" b="1" dirty="0">
                <a:solidFill>
                  <a:schemeClr val="tx2"/>
                </a:solidFill>
              </a:rPr>
              <a:t>K-Nearest Neighbours</a:t>
            </a:r>
            <a:endParaRPr lang="en-US" sz="1800" dirty="0"/>
          </a:p>
        </p:txBody>
      </p:sp>
      <p:sp>
        <p:nvSpPr>
          <p:cNvPr id="20" name="Text 15"/>
          <p:cNvSpPr txBox="1"/>
          <p:nvPr/>
        </p:nvSpPr>
        <p:spPr>
          <a:xfrm>
            <a:off x="5221224" y="3840480"/>
            <a:ext cx="1783080" cy="960120"/>
          </a:xfrm>
          <a:prstGeom prst="rect">
            <a:avLst/>
          </a:prstGeom>
          <a:noFill/>
          <a:ln/>
        </p:spPr>
        <p:txBody>
          <a:bodyPr wrap="square" lIns="0" tIns="0" rIns="0" bIns="0" rtlCol="0" anchor="t"/>
          <a:lstStyle/>
          <a:p>
            <a:pPr algn="ctr" indent="0" marL="0">
              <a:buNone/>
            </a:pPr>
            <a:r>
              <a:rPr lang="en-US" sz="1500" dirty="0">
                <a:solidFill>
                  <a:schemeClr val="tx1"/>
                </a:solidFill>
              </a:rPr>
              <a:t>Averages the 15 most similar stations</a:t>
            </a:r>
            <a:endParaRPr lang="en-US" sz="1500" dirty="0"/>
          </a:p>
        </p:txBody>
      </p:sp>
      <p:sp>
        <p:nvSpPr>
          <p:cNvPr id="21" name="Text 16"/>
          <p:cNvSpPr txBox="1"/>
          <p:nvPr/>
        </p:nvSpPr>
        <p:spPr>
          <a:xfrm>
            <a:off x="5221224" y="4892040"/>
            <a:ext cx="1783080" cy="777240"/>
          </a:xfrm>
          <a:prstGeom prst="rect">
            <a:avLst/>
          </a:prstGeom>
          <a:noFill/>
          <a:ln/>
        </p:spPr>
        <p:txBody>
          <a:bodyPr wrap="square" lIns="0" tIns="0" rIns="0" bIns="0" rtlCol="0" anchor="t"/>
          <a:lstStyle/>
          <a:p>
            <a:pPr algn="ctr" indent="0" marL="0">
              <a:buNone/>
            </a:pPr>
            <a:r>
              <a:rPr lang="en-US" sz="1400" i="1" dirty="0">
                <a:solidFill>
                  <a:schemeClr val="accent3"/>
                </a:solidFill>
              </a:rPr>
              <a:t>Captures similarity patterns</a:t>
            </a:r>
            <a:endParaRPr lang="en-US" sz="1400" dirty="0"/>
          </a:p>
        </p:txBody>
      </p:sp>
      <p:sp>
        <p:nvSpPr>
          <p:cNvPr id="22" name="Model card 4"/>
          <p:cNvSpPr/>
          <p:nvPr/>
        </p:nvSpPr>
        <p:spPr>
          <a:xfrm>
            <a:off x="7351776" y="1828800"/>
            <a:ext cx="2057400" cy="4023360"/>
          </a:xfrm>
          <a:prstGeom prst="roundRect">
            <a:avLst>
              <a:gd name="adj" fmla="val 5333"/>
            </a:avLst>
          </a:prstGeom>
          <a:solidFill>
            <a:schemeClr val="bg2"/>
          </a:solidFill>
          <a:ln/>
        </p:spPr>
      </p:sp>
      <p:sp>
        <p:nvSpPr>
          <p:cNvPr id="23" name="Model card 4 circle"/>
          <p:cNvSpPr/>
          <p:nvPr/>
        </p:nvSpPr>
        <p:spPr>
          <a:xfrm>
            <a:off x="7946136" y="2103120"/>
            <a:ext cx="868680" cy="868680"/>
          </a:xfrm>
          <a:prstGeom prst="ellipse">
            <a:avLst/>
          </a:prstGeom>
          <a:solidFill>
            <a:schemeClr val="accent1"/>
          </a:solidFill>
          <a:ln/>
        </p:spPr>
      </p:sp>
      <p:pic>
        <p:nvPicPr>
          <p:cNvPr id="24" name="Model card 4 icon" descr="preencoded.png">    </p:cNvPr>
          <p:cNvPicPr>
            <a:picLocks noChangeAspect="1"/>
          </p:cNvPicPr>
          <p:nvPr/>
        </p:nvPicPr>
        <p:blipFill>
          <a:blip r:embed="rId4"/>
          <a:stretch>
            <a:fillRect/>
          </a:stretch>
        </p:blipFill>
        <p:spPr>
          <a:xfrm>
            <a:off x="8137246" y="2294230"/>
            <a:ext cx="486461" cy="486461"/>
          </a:xfrm>
          <a:prstGeom prst="rect">
            <a:avLst/>
          </a:prstGeom>
        </p:spPr>
      </p:pic>
      <p:sp>
        <p:nvSpPr>
          <p:cNvPr id="25" name="Text 19"/>
          <p:cNvSpPr txBox="1"/>
          <p:nvPr/>
        </p:nvSpPr>
        <p:spPr>
          <a:xfrm>
            <a:off x="7461504" y="3108960"/>
            <a:ext cx="1828800" cy="685800"/>
          </a:xfrm>
          <a:prstGeom prst="rect">
            <a:avLst/>
          </a:prstGeom>
          <a:noFill/>
          <a:ln/>
        </p:spPr>
        <p:txBody>
          <a:bodyPr wrap="square" lIns="0" tIns="0" rIns="0" bIns="0" rtlCol="0" anchor="ctr"/>
          <a:lstStyle/>
          <a:p>
            <a:pPr algn="ctr" indent="0" marL="0">
              <a:buNone/>
            </a:pPr>
            <a:r>
              <a:rPr lang="en-US" sz="1800" b="1" dirty="0">
                <a:solidFill>
                  <a:schemeClr val="tx2"/>
                </a:solidFill>
              </a:rPr>
              <a:t>Decision Tree</a:t>
            </a:r>
            <a:endParaRPr lang="en-US" sz="1800" dirty="0"/>
          </a:p>
        </p:txBody>
      </p:sp>
      <p:sp>
        <p:nvSpPr>
          <p:cNvPr id="26" name="Text 20"/>
          <p:cNvSpPr txBox="1"/>
          <p:nvPr/>
        </p:nvSpPr>
        <p:spPr>
          <a:xfrm>
            <a:off x="7488936" y="3840480"/>
            <a:ext cx="1783080" cy="960120"/>
          </a:xfrm>
          <a:prstGeom prst="rect">
            <a:avLst/>
          </a:prstGeom>
          <a:noFill/>
          <a:ln/>
        </p:spPr>
        <p:txBody>
          <a:bodyPr wrap="square" lIns="0" tIns="0" rIns="0" bIns="0" rtlCol="0" anchor="t"/>
          <a:lstStyle/>
          <a:p>
            <a:pPr algn="ctr" indent="0" marL="0">
              <a:buNone/>
            </a:pPr>
            <a:r>
              <a:rPr lang="en-US" sz="1500" dirty="0">
                <a:solidFill>
                  <a:schemeClr val="tx1"/>
                </a:solidFill>
              </a:rPr>
              <a:t>Learns if / else rules (depth 5)</a:t>
            </a:r>
            <a:endParaRPr lang="en-US" sz="1500" dirty="0"/>
          </a:p>
        </p:txBody>
      </p:sp>
      <p:sp>
        <p:nvSpPr>
          <p:cNvPr id="27" name="Text 21"/>
          <p:cNvSpPr txBox="1"/>
          <p:nvPr/>
        </p:nvSpPr>
        <p:spPr>
          <a:xfrm>
            <a:off x="7488936" y="4892040"/>
            <a:ext cx="1783080" cy="777240"/>
          </a:xfrm>
          <a:prstGeom prst="rect">
            <a:avLst/>
          </a:prstGeom>
          <a:noFill/>
          <a:ln/>
        </p:spPr>
        <p:txBody>
          <a:bodyPr wrap="square" lIns="0" tIns="0" rIns="0" bIns="0" rtlCol="0" anchor="t"/>
          <a:lstStyle/>
          <a:p>
            <a:pPr algn="ctr" indent="0" marL="0">
              <a:buNone/>
            </a:pPr>
            <a:r>
              <a:rPr lang="en-US" sz="1400" i="1" dirty="0">
                <a:solidFill>
                  <a:schemeClr val="accent3"/>
                </a:solidFill>
              </a:rPr>
              <a:t>Captures non-linear rules</a:t>
            </a:r>
            <a:endParaRPr lang="en-US" sz="1400" dirty="0"/>
          </a:p>
        </p:txBody>
      </p:sp>
      <p:sp>
        <p:nvSpPr>
          <p:cNvPr id="28" name="Model card 5"/>
          <p:cNvSpPr/>
          <p:nvPr/>
        </p:nvSpPr>
        <p:spPr>
          <a:xfrm>
            <a:off x="9619488" y="1828800"/>
            <a:ext cx="2057400" cy="4023360"/>
          </a:xfrm>
          <a:prstGeom prst="roundRect">
            <a:avLst>
              <a:gd name="adj" fmla="val 5333"/>
            </a:avLst>
          </a:prstGeom>
          <a:solidFill>
            <a:schemeClr val="bg2"/>
          </a:solidFill>
          <a:ln/>
        </p:spPr>
      </p:sp>
      <p:sp>
        <p:nvSpPr>
          <p:cNvPr id="29" name="Model card 5 circle"/>
          <p:cNvSpPr/>
          <p:nvPr/>
        </p:nvSpPr>
        <p:spPr>
          <a:xfrm>
            <a:off x="10213848" y="2103120"/>
            <a:ext cx="868680" cy="868680"/>
          </a:xfrm>
          <a:prstGeom prst="ellipse">
            <a:avLst/>
          </a:prstGeom>
          <a:solidFill>
            <a:schemeClr val="accent1"/>
          </a:solidFill>
          <a:ln/>
        </p:spPr>
      </p:sp>
      <p:pic>
        <p:nvPicPr>
          <p:cNvPr id="30" name="Model card 5 icon" descr="preencoded.png">    </p:cNvPr>
          <p:cNvPicPr>
            <a:picLocks noChangeAspect="1"/>
          </p:cNvPicPr>
          <p:nvPr/>
        </p:nvPicPr>
        <p:blipFill>
          <a:blip r:embed="rId5"/>
          <a:stretch>
            <a:fillRect/>
          </a:stretch>
        </p:blipFill>
        <p:spPr>
          <a:xfrm>
            <a:off x="10404958" y="2294230"/>
            <a:ext cx="486461" cy="486461"/>
          </a:xfrm>
          <a:prstGeom prst="rect">
            <a:avLst/>
          </a:prstGeom>
        </p:spPr>
      </p:pic>
      <p:sp>
        <p:nvSpPr>
          <p:cNvPr id="31" name="Text 24"/>
          <p:cNvSpPr txBox="1"/>
          <p:nvPr/>
        </p:nvSpPr>
        <p:spPr>
          <a:xfrm>
            <a:off x="9729216" y="3108960"/>
            <a:ext cx="1828800" cy="685800"/>
          </a:xfrm>
          <a:prstGeom prst="rect">
            <a:avLst/>
          </a:prstGeom>
          <a:noFill/>
          <a:ln/>
        </p:spPr>
        <p:txBody>
          <a:bodyPr wrap="square" lIns="0" tIns="0" rIns="0" bIns="0" rtlCol="0" anchor="ctr"/>
          <a:lstStyle/>
          <a:p>
            <a:pPr algn="ctr" indent="0" marL="0">
              <a:buNone/>
            </a:pPr>
            <a:r>
              <a:rPr lang="en-US" sz="1800" b="1" dirty="0">
                <a:solidFill>
                  <a:schemeClr val="tx2"/>
                </a:solidFill>
              </a:rPr>
              <a:t>Random Forest</a:t>
            </a:r>
            <a:endParaRPr lang="en-US" sz="1800" dirty="0"/>
          </a:p>
        </p:txBody>
      </p:sp>
      <p:sp>
        <p:nvSpPr>
          <p:cNvPr id="32" name="Text 25"/>
          <p:cNvSpPr txBox="1"/>
          <p:nvPr/>
        </p:nvSpPr>
        <p:spPr>
          <a:xfrm>
            <a:off x="9756648" y="3840480"/>
            <a:ext cx="1783080" cy="960120"/>
          </a:xfrm>
          <a:prstGeom prst="rect">
            <a:avLst/>
          </a:prstGeom>
          <a:noFill/>
          <a:ln/>
        </p:spPr>
        <p:txBody>
          <a:bodyPr wrap="square" lIns="0" tIns="0" rIns="0" bIns="0" rtlCol="0" anchor="t"/>
          <a:lstStyle/>
          <a:p>
            <a:pPr algn="ctr" indent="0" marL="0">
              <a:buNone/>
            </a:pPr>
            <a:r>
              <a:rPr lang="en-US" sz="1500" dirty="0">
                <a:solidFill>
                  <a:schemeClr val="tx1"/>
                </a:solidFill>
              </a:rPr>
              <a:t>100 trees averaged (depth 8)</a:t>
            </a:r>
            <a:endParaRPr lang="en-US" sz="1500" dirty="0"/>
          </a:p>
        </p:txBody>
      </p:sp>
      <p:sp>
        <p:nvSpPr>
          <p:cNvPr id="33" name="Text 26"/>
          <p:cNvSpPr txBox="1"/>
          <p:nvPr/>
        </p:nvSpPr>
        <p:spPr>
          <a:xfrm>
            <a:off x="9756648" y="4892040"/>
            <a:ext cx="1783080" cy="777240"/>
          </a:xfrm>
          <a:prstGeom prst="rect">
            <a:avLst/>
          </a:prstGeom>
          <a:noFill/>
          <a:ln/>
        </p:spPr>
        <p:txBody>
          <a:bodyPr wrap="square" lIns="0" tIns="0" rIns="0" bIns="0" rtlCol="0" anchor="t"/>
          <a:lstStyle/>
          <a:p>
            <a:pPr algn="ctr" indent="0" marL="0">
              <a:buNone/>
            </a:pPr>
            <a:r>
              <a:rPr lang="en-US" sz="1400" i="1" dirty="0">
                <a:solidFill>
                  <a:schemeClr val="accent3"/>
                </a:solidFill>
              </a:rPr>
              <a:t>Robust, lower variance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Model Development</a:t>
            </a:r>
            <a:endParaRPr lang="en-US" sz="3400" dirty="0"/>
          </a:p>
        </p:txBody>
      </p:sp>
      <p:sp>
        <p:nvSpPr>
          <p:cNvPr id="3" name="Text 1"/>
          <p:cNvSpPr txBox="1"/>
          <p:nvPr/>
        </p:nvSpPr>
        <p:spPr>
          <a:xfrm>
            <a:off x="548640" y="1325880"/>
            <a:ext cx="5029200" cy="365760"/>
          </a:xfrm>
          <a:prstGeom prst="rect">
            <a:avLst/>
          </a:prstGeom>
          <a:noFill/>
          <a:ln/>
        </p:spPr>
        <p:txBody>
          <a:bodyPr wrap="square" lIns="0" tIns="0" rIns="0" bIns="0" rtlCol="0" anchor="ctr"/>
          <a:lstStyle/>
          <a:p>
            <a:pPr indent="0" marL="0">
              <a:buNone/>
            </a:pPr>
            <a:r>
              <a:rPr lang="en-US" sz="1800" b="1" dirty="0">
                <a:solidFill>
                  <a:schemeClr val="tx2"/>
                </a:solidFill>
              </a:rPr>
              <a:t>Data split</a:t>
            </a:r>
            <a:endParaRPr lang="en-US" sz="1800" dirty="0"/>
          </a:p>
        </p:txBody>
      </p:sp>
      <p:sp>
        <p:nvSpPr>
          <p:cNvPr id="4" name="Train bar"/>
          <p:cNvSpPr/>
          <p:nvPr/>
        </p:nvSpPr>
        <p:spPr>
          <a:xfrm>
            <a:off x="548640" y="1828800"/>
            <a:ext cx="4023360" cy="822960"/>
          </a:xfrm>
          <a:prstGeom prst="roundRect">
            <a:avLst>
              <a:gd name="adj" fmla="val 11111"/>
            </a:avLst>
          </a:prstGeom>
          <a:solidFill>
            <a:schemeClr val="accent1"/>
          </a:solidFill>
          <a:ln/>
        </p:spPr>
      </p:sp>
      <p:sp>
        <p:nvSpPr>
          <p:cNvPr id="5" name="Test bar"/>
          <p:cNvSpPr/>
          <p:nvPr/>
        </p:nvSpPr>
        <p:spPr>
          <a:xfrm>
            <a:off x="4663440" y="1828800"/>
            <a:ext cx="1005840" cy="822960"/>
          </a:xfrm>
          <a:prstGeom prst="roundRect">
            <a:avLst>
              <a:gd name="adj" fmla="val 11111"/>
            </a:avLst>
          </a:prstGeom>
          <a:solidFill>
            <a:schemeClr val="accent2"/>
          </a:solidFill>
          <a:ln/>
        </p:spPr>
      </p:sp>
      <p:sp>
        <p:nvSpPr>
          <p:cNvPr id="6" name="Text 4"/>
          <p:cNvSpPr txBox="1"/>
          <p:nvPr/>
        </p:nvSpPr>
        <p:spPr>
          <a:xfrm>
            <a:off x="548640" y="1828800"/>
            <a:ext cx="4023360" cy="822960"/>
          </a:xfrm>
          <a:prstGeom prst="rect">
            <a:avLst/>
          </a:prstGeom>
          <a:noFill/>
          <a:ln/>
        </p:spPr>
        <p:txBody>
          <a:bodyPr wrap="square" lIns="0" tIns="0" rIns="0" bIns="0" rtlCol="0" anchor="ctr"/>
          <a:lstStyle/>
          <a:p>
            <a:pPr algn="ctr" indent="0" marL="0">
              <a:buNone/>
            </a:pPr>
            <a:r>
              <a:rPr lang="en-US" sz="1800" b="1" dirty="0">
                <a:solidFill>
                  <a:schemeClr val="bg1"/>
                </a:solidFill>
              </a:rPr>
              <a:t>Train 80% · 4,000</a:t>
            </a:r>
            <a:endParaRPr lang="en-US" sz="1800" dirty="0"/>
          </a:p>
        </p:txBody>
      </p:sp>
      <p:sp>
        <p:nvSpPr>
          <p:cNvPr id="7" name="Text 5"/>
          <p:cNvSpPr txBox="1"/>
          <p:nvPr/>
        </p:nvSpPr>
        <p:spPr>
          <a:xfrm>
            <a:off x="4663440" y="1828800"/>
            <a:ext cx="1005840" cy="822960"/>
          </a:xfrm>
          <a:prstGeom prst="rect">
            <a:avLst/>
          </a:prstGeom>
          <a:noFill/>
          <a:ln/>
        </p:spPr>
        <p:txBody>
          <a:bodyPr wrap="square" lIns="0" tIns="0" rIns="0" bIns="0" rtlCol="0" anchor="ctr"/>
          <a:lstStyle/>
          <a:p>
            <a:pPr algn="ctr" indent="0" marL="0">
              <a:buNone/>
            </a:pPr>
            <a:r>
              <a:rPr lang="en-US" sz="1400" b="1" dirty="0">
                <a:solidFill>
                  <a:schemeClr val="tx1"/>
                </a:solidFill>
              </a:rPr>
              <a:t>Test 20%</a:t>
            </a:r>
            <a:endParaRPr lang="en-US" sz="1400" dirty="0"/>
          </a:p>
        </p:txBody>
      </p:sp>
      <p:sp>
        <p:nvSpPr>
          <p:cNvPr id="8" name="Text 6"/>
          <p:cNvSpPr txBox="1"/>
          <p:nvPr/>
        </p:nvSpPr>
        <p:spPr>
          <a:xfrm>
            <a:off x="548640" y="2743200"/>
            <a:ext cx="5120640" cy="365760"/>
          </a:xfrm>
          <a:prstGeom prst="rect">
            <a:avLst/>
          </a:prstGeom>
          <a:noFill/>
          <a:ln/>
        </p:spPr>
        <p:txBody>
          <a:bodyPr wrap="square" lIns="0" tIns="0" rIns="0" bIns="0" rtlCol="0" anchor="ctr"/>
          <a:lstStyle/>
          <a:p>
            <a:pPr indent="0" marL="0">
              <a:buNone/>
            </a:pPr>
            <a:r>
              <a:rPr lang="en-US" sz="1400" i="1" dirty="0">
                <a:solidFill>
                  <a:schemeClr val="accent6"/>
                </a:solidFill>
              </a:rPr>
              <a:t>random_state = 42 for reproducible results</a:t>
            </a:r>
            <a:endParaRPr lang="en-US" sz="1400" dirty="0"/>
          </a:p>
        </p:txBody>
      </p:sp>
      <p:sp>
        <p:nvSpPr>
          <p:cNvPr id="9" name="Text 7"/>
          <p:cNvSpPr txBox="1"/>
          <p:nvPr/>
        </p:nvSpPr>
        <p:spPr>
          <a:xfrm>
            <a:off x="548640" y="3337560"/>
            <a:ext cx="5120640" cy="365760"/>
          </a:xfrm>
          <a:prstGeom prst="rect">
            <a:avLst/>
          </a:prstGeom>
          <a:noFill/>
          <a:ln/>
        </p:spPr>
        <p:txBody>
          <a:bodyPr wrap="square" lIns="0" tIns="0" rIns="0" bIns="0" rtlCol="0" anchor="ctr"/>
          <a:lstStyle/>
          <a:p>
            <a:pPr indent="0" marL="0">
              <a:buNone/>
            </a:pPr>
            <a:r>
              <a:rPr lang="en-US" sz="1800" b="1" dirty="0">
                <a:solidFill>
                  <a:schemeClr val="tx2"/>
                </a:solidFill>
              </a:rPr>
              <a:t>Training loop (Python, scikit-learn)</a:t>
            </a:r>
            <a:endParaRPr lang="en-US" sz="1800" dirty="0"/>
          </a:p>
        </p:txBody>
      </p:sp>
      <p:sp>
        <p:nvSpPr>
          <p:cNvPr id="10" name="Code block"/>
          <p:cNvSpPr/>
          <p:nvPr/>
        </p:nvSpPr>
        <p:spPr>
          <a:xfrm>
            <a:off x="548640" y="3794760"/>
            <a:ext cx="5120640" cy="2103120"/>
          </a:xfrm>
          <a:prstGeom prst="roundRect">
            <a:avLst>
              <a:gd name="adj" fmla="val 4348"/>
            </a:avLst>
          </a:prstGeom>
          <a:solidFill>
            <a:schemeClr val="tx2"/>
          </a:solidFill>
          <a:ln/>
        </p:spPr>
      </p:sp>
      <p:sp>
        <p:nvSpPr>
          <p:cNvPr id="11" name="Text 9"/>
          <p:cNvSpPr txBox="1"/>
          <p:nvPr/>
        </p:nvSpPr>
        <p:spPr>
          <a:xfrm>
            <a:off x="777240" y="3931920"/>
            <a:ext cx="4754880" cy="182880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for name, model in models.items():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model.fit(X_train_scaled, y_train)</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pred = model.predict(X_test_scaled)</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r2 = r2_score(y_test, pred)</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mae = mean_absolute_error(y_test, pred)</a:t>
            </a:r>
            <a:endParaRPr lang="en-US" sz="1400" dirty="0"/>
          </a:p>
        </p:txBody>
      </p:sp>
      <p:sp>
        <p:nvSpPr>
          <p:cNvPr id="12" name="Text 10"/>
          <p:cNvSpPr txBox="1"/>
          <p:nvPr/>
        </p:nvSpPr>
        <p:spPr>
          <a:xfrm>
            <a:off x="6309360" y="1325880"/>
            <a:ext cx="5303520" cy="365760"/>
          </a:xfrm>
          <a:prstGeom prst="rect">
            <a:avLst/>
          </a:prstGeom>
          <a:noFill/>
          <a:ln/>
        </p:spPr>
        <p:txBody>
          <a:bodyPr wrap="square" lIns="0" tIns="0" rIns="0" bIns="0" rtlCol="0" anchor="ctr"/>
          <a:lstStyle/>
          <a:p>
            <a:pPr indent="0" marL="0">
              <a:buNone/>
            </a:pPr>
            <a:r>
              <a:rPr lang="en-US" sz="1800" b="1" dirty="0">
                <a:solidFill>
                  <a:schemeClr val="tx2"/>
                </a:solidFill>
              </a:rPr>
              <a:t>Model settings</a:t>
            </a:r>
            <a:endParaRPr lang="en-US" sz="1800" dirty="0"/>
          </a:p>
        </p:txBody>
      </p:sp>
      <p:graphicFrame>
        <p:nvGraphicFramePr>
          <p:cNvPr id="9" name="Settings table"/>
          <p:cNvGraphicFramePr>
            <a:graphicFrameLocks noGrp="1"/>
          </p:cNvGraphicFramePr>
          <p:nvPr>
            <p:extLst>
              <p:ext uri="{D42A27DB-BD31-4B8C-83A1-F6EECF244321}">
                <p14:modId xmlns:p14="http://schemas.microsoft.com/office/powerpoint/2010/main" val="1579011935"/>
              </p:ext>
            </p:extLst>
          </p:nvPr>
        </p:nvGraphicFramePr>
        <p:xfrm>
          <a:off x="6309360" y="1828800"/>
          <a:ext cx="5303520" cy="914400"/>
        </p:xfrm>
        <a:graphic>
          <a:graphicData uri="http://schemas.openxmlformats.org/drawingml/2006/table">
            <a:tbl>
              <a:tblPr/>
              <a:tblGrid>
                <a:gridCol w="2286000"/>
                <a:gridCol w="3017520"/>
              </a:tblGrid>
              <a:tr h="502920">
                <a:tc>
                  <a:txBody>
                    <a:bodyPr/>
                    <a:lstStyle/>
                    <a:p>
                      <a:pPr indent="0" marL="0">
                        <a:buNone/>
                      </a:pPr>
                      <a:r>
                        <a:rPr lang="en-US" sz="1500" b="1" dirty="0">
                          <a:solidFill>
                            <a:srgbClr val="FFFFFF"/>
                          </a:solidFill>
                        </a:rPr>
                        <a:t>Model</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c>
                  <a:txBody>
                    <a:bodyPr/>
                    <a:lstStyle/>
                    <a:p>
                      <a:pPr indent="0" marL="0">
                        <a:buNone/>
                      </a:pPr>
                      <a:r>
                        <a:rPr lang="en-US" sz="1500" b="1" dirty="0">
                          <a:solidFill>
                            <a:srgbClr val="FFFFFF"/>
                          </a:solidFill>
                        </a:rPr>
                        <a:t>Key settings</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r>
              <a:tr h="502920">
                <a:tc>
                  <a:txBody>
                    <a:bodyPr/>
                    <a:lstStyle/>
                    <a:p>
                      <a:pPr indent="0" marL="0">
                        <a:buNone/>
                      </a:pPr>
                      <a:r>
                        <a:rPr lang="en-US" sz="1500" dirty="0">
                          <a:solidFill>
                            <a:srgbClr val="1B2A2F"/>
                          </a:solidFill>
                        </a:rPr>
                        <a:t>Baseline</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indent="0" marL="0">
                        <a:buNone/>
                      </a:pPr>
                      <a:r>
                        <a:rPr lang="en-US" sz="1500" dirty="0">
                          <a:solidFill>
                            <a:srgbClr val="1B2A2F"/>
                          </a:solidFill>
                        </a:rPr>
                        <a:t>Predict training mean</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r>
              <a:tr h="502920">
                <a:tc>
                  <a:txBody>
                    <a:bodyPr/>
                    <a:lstStyle/>
                    <a:p>
                      <a:pPr indent="0" marL="0">
                        <a:buNone/>
                      </a:pPr>
                      <a:r>
                        <a:rPr lang="en-US" sz="1500" dirty="0">
                          <a:solidFill>
                            <a:srgbClr val="1B2A2F"/>
                          </a:solidFill>
                        </a:rPr>
                        <a:t>Linear Regression</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indent="0" marL="0">
                        <a:buNone/>
                      </a:pPr>
                      <a:r>
                        <a:rPr lang="en-US" sz="1500" dirty="0">
                          <a:solidFill>
                            <a:srgbClr val="1B2A2F"/>
                          </a:solidFill>
                        </a:rPr>
                        <a:t>Default</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r>
              <a:tr h="502920">
                <a:tc>
                  <a:txBody>
                    <a:bodyPr/>
                    <a:lstStyle/>
                    <a:p>
                      <a:pPr indent="0" marL="0">
                        <a:buNone/>
                      </a:pPr>
                      <a:r>
                        <a:rPr lang="en-US" sz="1500" dirty="0">
                          <a:solidFill>
                            <a:srgbClr val="1B2A2F"/>
                          </a:solidFill>
                        </a:rPr>
                        <a:t>KNN</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indent="0" marL="0">
                        <a:buNone/>
                      </a:pPr>
                      <a:r>
                        <a:rPr lang="en-US" sz="1500" dirty="0">
                          <a:solidFill>
                            <a:srgbClr val="1B2A2F"/>
                          </a:solidFill>
                        </a:rPr>
                        <a:t>k = 15 neighbours</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r>
              <a:tr h="502920">
                <a:tc>
                  <a:txBody>
                    <a:bodyPr/>
                    <a:lstStyle/>
                    <a:p>
                      <a:pPr indent="0" marL="0">
                        <a:buNone/>
                      </a:pPr>
                      <a:r>
                        <a:rPr lang="en-US" sz="1500" dirty="0">
                          <a:solidFill>
                            <a:srgbClr val="1B2A2F"/>
                          </a:solidFill>
                        </a:rPr>
                        <a:t>Decision Tree</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indent="0" marL="0">
                        <a:buNone/>
                      </a:pPr>
                      <a:r>
                        <a:rPr lang="en-US" sz="1500" dirty="0">
                          <a:solidFill>
                            <a:srgbClr val="1B2A2F"/>
                          </a:solidFill>
                        </a:rPr>
                        <a:t>max_depth = 5</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r>
              <a:tr h="502920">
                <a:tc>
                  <a:txBody>
                    <a:bodyPr/>
                    <a:lstStyle/>
                    <a:p>
                      <a:pPr indent="0" marL="0">
                        <a:buNone/>
                      </a:pPr>
                      <a:r>
                        <a:rPr lang="en-US" sz="1500" dirty="0">
                          <a:solidFill>
                            <a:srgbClr val="1B2A2F"/>
                          </a:solidFill>
                        </a:rPr>
                        <a:t>Random Forest</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indent="0" marL="0">
                        <a:buNone/>
                      </a:pPr>
                      <a:r>
                        <a:rPr lang="en-US" sz="1500" dirty="0">
                          <a:solidFill>
                            <a:srgbClr val="1B2A2F"/>
                          </a:solidFill>
                        </a:rPr>
                        <a:t>100 trees, max_depth = 8</a:t>
                      </a:r>
                      <a:endParaRPr lang="en-US" sz="15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r>
            </a:tbl>
          </a:graphicData>
        </a:graphic>
      </p:graphicFrame>
      <p:sp>
        <p:nvSpPr>
          <p:cNvPr id="14" name="Text 11"/>
          <p:cNvSpPr txBox="1"/>
          <p:nvPr/>
        </p:nvSpPr>
        <p:spPr>
          <a:xfrm>
            <a:off x="6309360" y="5029200"/>
            <a:ext cx="5303520" cy="457200"/>
          </a:xfrm>
          <a:prstGeom prst="rect">
            <a:avLst/>
          </a:prstGeom>
          <a:noFill/>
          <a:ln/>
        </p:spPr>
        <p:txBody>
          <a:bodyPr wrap="square" lIns="0" tIns="0" rIns="0" bIns="0" rtlCol="0" anchor="ctr"/>
          <a:lstStyle/>
          <a:p>
            <a:pPr indent="0" marL="0">
              <a:buNone/>
            </a:pPr>
            <a:r>
              <a:rPr lang="en-US" sz="1400" i="1" dirty="0">
                <a:solidFill>
                  <a:schemeClr val="accent6"/>
                </a:solidFill>
              </a:rPr>
              <a:t>Depth limits keep the trees from memorising noise.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Evaluation of the Model</a:t>
            </a:r>
            <a:endParaRPr lang="en-US" sz="3400" dirty="0"/>
          </a:p>
        </p:txBody>
      </p:sp>
      <p:sp>
        <p:nvSpPr>
          <p:cNvPr id="3" name="Metric R²"/>
          <p:cNvSpPr/>
          <p:nvPr/>
        </p:nvSpPr>
        <p:spPr>
          <a:xfrm>
            <a:off x="548640" y="1325880"/>
            <a:ext cx="4206240" cy="1325880"/>
          </a:xfrm>
          <a:prstGeom prst="roundRect">
            <a:avLst>
              <a:gd name="adj" fmla="val 8276"/>
            </a:avLst>
          </a:prstGeom>
          <a:solidFill>
            <a:schemeClr val="bg2"/>
          </a:solidFill>
          <a:ln/>
        </p:spPr>
      </p:sp>
      <p:sp>
        <p:nvSpPr>
          <p:cNvPr id="4" name="Text 2"/>
          <p:cNvSpPr txBox="1"/>
          <p:nvPr/>
        </p:nvSpPr>
        <p:spPr>
          <a:xfrm>
            <a:off x="731520" y="1508760"/>
            <a:ext cx="1280160" cy="9601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R²</a:t>
            </a:r>
            <a:endParaRPr lang="en-US" sz="3000" dirty="0"/>
          </a:p>
        </p:txBody>
      </p:sp>
      <p:sp>
        <p:nvSpPr>
          <p:cNvPr id="5" name="Text 3"/>
          <p:cNvSpPr txBox="1"/>
          <p:nvPr/>
        </p:nvSpPr>
        <p:spPr>
          <a:xfrm>
            <a:off x="2011680" y="1527048"/>
            <a:ext cx="2606040" cy="365760"/>
          </a:xfrm>
          <a:prstGeom prst="rect">
            <a:avLst/>
          </a:prstGeom>
          <a:noFill/>
          <a:ln/>
        </p:spPr>
        <p:txBody>
          <a:bodyPr wrap="square" lIns="0" tIns="0" rIns="0" bIns="0" rtlCol="0" anchor="ctr"/>
          <a:lstStyle/>
          <a:p>
            <a:pPr indent="0" marL="0">
              <a:buNone/>
            </a:pPr>
            <a:r>
              <a:rPr lang="en-US" sz="1600" b="1" dirty="0">
                <a:solidFill>
                  <a:schemeClr val="tx2"/>
                </a:solidFill>
              </a:rPr>
              <a:t>Share of variation explained</a:t>
            </a:r>
            <a:endParaRPr lang="en-US" sz="1600" dirty="0"/>
          </a:p>
        </p:txBody>
      </p:sp>
      <p:sp>
        <p:nvSpPr>
          <p:cNvPr id="6" name="Text 4"/>
          <p:cNvSpPr txBox="1"/>
          <p:nvPr/>
        </p:nvSpPr>
        <p:spPr>
          <a:xfrm>
            <a:off x="2011680" y="1892808"/>
            <a:ext cx="2606040" cy="640080"/>
          </a:xfrm>
          <a:prstGeom prst="rect">
            <a:avLst/>
          </a:prstGeom>
          <a:noFill/>
          <a:ln/>
        </p:spPr>
        <p:txBody>
          <a:bodyPr wrap="square" lIns="0" tIns="0" rIns="0" bIns="0" rtlCol="0" anchor="t"/>
          <a:lstStyle/>
          <a:p>
            <a:pPr indent="0" marL="0">
              <a:buNone/>
            </a:pPr>
            <a:r>
              <a:rPr lang="en-US" sz="1400" dirty="0">
                <a:solidFill>
                  <a:schemeClr val="tx1"/>
                </a:solidFill>
              </a:rPr>
              <a:t>1 = perfect, 0 = no better than the average</a:t>
            </a:r>
            <a:endParaRPr lang="en-US" sz="1400" dirty="0"/>
          </a:p>
        </p:txBody>
      </p:sp>
      <p:sp>
        <p:nvSpPr>
          <p:cNvPr id="7" name="Metric MAE"/>
          <p:cNvSpPr/>
          <p:nvPr/>
        </p:nvSpPr>
        <p:spPr>
          <a:xfrm>
            <a:off x="548640" y="2880360"/>
            <a:ext cx="4206240" cy="1325880"/>
          </a:xfrm>
          <a:prstGeom prst="roundRect">
            <a:avLst>
              <a:gd name="adj" fmla="val 8276"/>
            </a:avLst>
          </a:prstGeom>
          <a:solidFill>
            <a:schemeClr val="bg2"/>
          </a:solidFill>
          <a:ln/>
        </p:spPr>
      </p:sp>
      <p:sp>
        <p:nvSpPr>
          <p:cNvPr id="8" name="Text 6"/>
          <p:cNvSpPr txBox="1"/>
          <p:nvPr/>
        </p:nvSpPr>
        <p:spPr>
          <a:xfrm>
            <a:off x="731520" y="3063240"/>
            <a:ext cx="1280160" cy="9601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MAE</a:t>
            </a:r>
            <a:endParaRPr lang="en-US" sz="3000" dirty="0"/>
          </a:p>
        </p:txBody>
      </p:sp>
      <p:sp>
        <p:nvSpPr>
          <p:cNvPr id="9" name="Text 7"/>
          <p:cNvSpPr txBox="1"/>
          <p:nvPr/>
        </p:nvSpPr>
        <p:spPr>
          <a:xfrm>
            <a:off x="2011680" y="3081528"/>
            <a:ext cx="2606040" cy="365760"/>
          </a:xfrm>
          <a:prstGeom prst="rect">
            <a:avLst/>
          </a:prstGeom>
          <a:noFill/>
          <a:ln/>
        </p:spPr>
        <p:txBody>
          <a:bodyPr wrap="square" lIns="0" tIns="0" rIns="0" bIns="0" rtlCol="0" anchor="ctr"/>
          <a:lstStyle/>
          <a:p>
            <a:pPr indent="0" marL="0">
              <a:buNone/>
            </a:pPr>
            <a:r>
              <a:rPr lang="en-US" sz="1600" b="1" dirty="0">
                <a:solidFill>
                  <a:schemeClr val="tx2"/>
                </a:solidFill>
              </a:rPr>
              <a:t>Mean absolute error</a:t>
            </a:r>
            <a:endParaRPr lang="en-US" sz="1600" dirty="0"/>
          </a:p>
        </p:txBody>
      </p:sp>
      <p:sp>
        <p:nvSpPr>
          <p:cNvPr id="10" name="Text 8"/>
          <p:cNvSpPr txBox="1"/>
          <p:nvPr/>
        </p:nvSpPr>
        <p:spPr>
          <a:xfrm>
            <a:off x="2011680" y="3447288"/>
            <a:ext cx="2606040" cy="640080"/>
          </a:xfrm>
          <a:prstGeom prst="rect">
            <a:avLst/>
          </a:prstGeom>
          <a:noFill/>
          <a:ln/>
        </p:spPr>
        <p:txBody>
          <a:bodyPr wrap="square" lIns="0" tIns="0" rIns="0" bIns="0" rtlCol="0" anchor="t"/>
          <a:lstStyle/>
          <a:p>
            <a:pPr indent="0" marL="0">
              <a:buNone/>
            </a:pPr>
            <a:r>
              <a:rPr lang="en-US" sz="1400" dirty="0">
                <a:solidFill>
                  <a:schemeClr val="tx1"/>
                </a:solidFill>
              </a:rPr>
              <a:t>Average miss in users/day (lower is better)</a:t>
            </a:r>
            <a:endParaRPr lang="en-US" sz="1400" dirty="0"/>
          </a:p>
        </p:txBody>
      </p:sp>
      <p:sp>
        <p:nvSpPr>
          <p:cNvPr id="11" name="Metric RMSE"/>
          <p:cNvSpPr/>
          <p:nvPr/>
        </p:nvSpPr>
        <p:spPr>
          <a:xfrm>
            <a:off x="548640" y="4434840"/>
            <a:ext cx="4206240" cy="1325880"/>
          </a:xfrm>
          <a:prstGeom prst="roundRect">
            <a:avLst>
              <a:gd name="adj" fmla="val 8276"/>
            </a:avLst>
          </a:prstGeom>
          <a:solidFill>
            <a:schemeClr val="bg2"/>
          </a:solidFill>
          <a:ln/>
        </p:spPr>
      </p:sp>
      <p:sp>
        <p:nvSpPr>
          <p:cNvPr id="12" name="Text 10"/>
          <p:cNvSpPr txBox="1"/>
          <p:nvPr/>
        </p:nvSpPr>
        <p:spPr>
          <a:xfrm>
            <a:off x="731520" y="4617720"/>
            <a:ext cx="1280160" cy="9601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RMSE</a:t>
            </a:r>
            <a:endParaRPr lang="en-US" sz="3000" dirty="0"/>
          </a:p>
        </p:txBody>
      </p:sp>
      <p:sp>
        <p:nvSpPr>
          <p:cNvPr id="13" name="Text 11"/>
          <p:cNvSpPr txBox="1"/>
          <p:nvPr/>
        </p:nvSpPr>
        <p:spPr>
          <a:xfrm>
            <a:off x="2011680" y="4636008"/>
            <a:ext cx="2606040" cy="365760"/>
          </a:xfrm>
          <a:prstGeom prst="rect">
            <a:avLst/>
          </a:prstGeom>
          <a:noFill/>
          <a:ln/>
        </p:spPr>
        <p:txBody>
          <a:bodyPr wrap="square" lIns="0" tIns="0" rIns="0" bIns="0" rtlCol="0" anchor="ctr"/>
          <a:lstStyle/>
          <a:p>
            <a:pPr indent="0" marL="0">
              <a:buNone/>
            </a:pPr>
            <a:r>
              <a:rPr lang="en-US" sz="1600" b="1" dirty="0">
                <a:solidFill>
                  <a:schemeClr val="tx2"/>
                </a:solidFill>
              </a:rPr>
              <a:t>Root mean squared error</a:t>
            </a:r>
            <a:endParaRPr lang="en-US" sz="1600" dirty="0"/>
          </a:p>
        </p:txBody>
      </p:sp>
      <p:sp>
        <p:nvSpPr>
          <p:cNvPr id="14" name="Text 12"/>
          <p:cNvSpPr txBox="1"/>
          <p:nvPr/>
        </p:nvSpPr>
        <p:spPr>
          <a:xfrm>
            <a:off x="2011680" y="5001768"/>
            <a:ext cx="2606040" cy="640080"/>
          </a:xfrm>
          <a:prstGeom prst="rect">
            <a:avLst/>
          </a:prstGeom>
          <a:noFill/>
          <a:ln/>
        </p:spPr>
        <p:txBody>
          <a:bodyPr wrap="square" lIns="0" tIns="0" rIns="0" bIns="0" rtlCol="0" anchor="t"/>
          <a:lstStyle/>
          <a:p>
            <a:pPr indent="0" marL="0">
              <a:buNone/>
            </a:pPr>
            <a:r>
              <a:rPr lang="en-US" sz="1400" dirty="0">
                <a:solidFill>
                  <a:schemeClr val="tx1"/>
                </a:solidFill>
              </a:rPr>
              <a:t>Like MAE, but penalises big misses more</a:t>
            </a:r>
            <a:endParaRPr lang="en-US" sz="1400" dirty="0"/>
          </a:p>
        </p:txBody>
      </p:sp>
      <p:sp>
        <p:nvSpPr>
          <p:cNvPr id="15" name="Text 13"/>
          <p:cNvSpPr txBox="1"/>
          <p:nvPr/>
        </p:nvSpPr>
        <p:spPr>
          <a:xfrm>
            <a:off x="5212080" y="1325880"/>
            <a:ext cx="6400800" cy="365760"/>
          </a:xfrm>
          <a:prstGeom prst="rect">
            <a:avLst/>
          </a:prstGeom>
          <a:noFill/>
          <a:ln/>
        </p:spPr>
        <p:txBody>
          <a:bodyPr wrap="square" lIns="0" tIns="0" rIns="0" bIns="0" rtlCol="0" anchor="ctr"/>
          <a:lstStyle/>
          <a:p>
            <a:pPr indent="0" marL="0">
              <a:buNone/>
            </a:pPr>
            <a:r>
              <a:rPr lang="en-US" sz="1800" b="1" dirty="0">
                <a:solidFill>
                  <a:schemeClr val="tx2"/>
                </a:solidFill>
              </a:rPr>
              <a:t>Test-set results (1,000 unseen stations)</a:t>
            </a:r>
            <a:endParaRPr lang="en-US" sz="1800" dirty="0"/>
          </a:p>
        </p:txBody>
      </p:sp>
      <p:graphicFrame>
        <p:nvGraphicFramePr>
          <p:cNvPr id="10" name="Results table"/>
          <p:cNvGraphicFramePr>
            <a:graphicFrameLocks noGrp="1"/>
          </p:cNvGraphicFramePr>
          <p:nvPr>
            <p:extLst>
              <p:ext uri="{D42A27DB-BD31-4B8C-83A1-F6EECF244321}">
                <p14:modId xmlns:p14="http://schemas.microsoft.com/office/powerpoint/2010/main" val="1579011935"/>
              </p:ext>
            </p:extLst>
          </p:nvPr>
        </p:nvGraphicFramePr>
        <p:xfrm>
          <a:off x="5212080" y="1828800"/>
          <a:ext cx="6400800" cy="914400"/>
        </p:xfrm>
        <a:graphic>
          <a:graphicData uri="http://schemas.openxmlformats.org/drawingml/2006/table">
            <a:tbl>
              <a:tblPr/>
              <a:tblGrid>
                <a:gridCol w="2560320"/>
                <a:gridCol w="1280160"/>
                <a:gridCol w="1280160"/>
                <a:gridCol w="1280160"/>
              </a:tblGrid>
              <a:tr h="548640">
                <a:tc>
                  <a:txBody>
                    <a:bodyPr/>
                    <a:lstStyle/>
                    <a:p>
                      <a:pPr algn="l" indent="0" marL="0">
                        <a:buNone/>
                      </a:pPr>
                      <a:r>
                        <a:rPr lang="en-US" sz="1600" b="1" dirty="0">
                          <a:solidFill>
                            <a:srgbClr val="FFFFFF"/>
                          </a:solidFill>
                        </a:rPr>
                        <a:t>Model</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c>
                  <a:txBody>
                    <a:bodyPr/>
                    <a:lstStyle/>
                    <a:p>
                      <a:pPr algn="ctr" indent="0" marL="0">
                        <a:buNone/>
                      </a:pPr>
                      <a:r>
                        <a:rPr lang="en-US" sz="1600" b="1" dirty="0">
                          <a:solidFill>
                            <a:srgbClr val="FFFFFF"/>
                          </a:solidFill>
                        </a:rPr>
                        <a:t>R²</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c>
                  <a:txBody>
                    <a:bodyPr/>
                    <a:lstStyle/>
                    <a:p>
                      <a:pPr algn="ctr" indent="0" marL="0">
                        <a:buNone/>
                      </a:pPr>
                      <a:r>
                        <a:rPr lang="en-US" sz="1600" b="1" dirty="0">
                          <a:solidFill>
                            <a:srgbClr val="FFFFFF"/>
                          </a:solidFill>
                        </a:rPr>
                        <a:t>MAE</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c>
                  <a:txBody>
                    <a:bodyPr/>
                    <a:lstStyle/>
                    <a:p>
                      <a:pPr algn="ctr" indent="0" marL="0">
                        <a:buNone/>
                      </a:pPr>
                      <a:r>
                        <a:rPr lang="en-US" sz="1600" b="1" dirty="0">
                          <a:solidFill>
                            <a:srgbClr val="FFFFFF"/>
                          </a:solidFill>
                        </a:rPr>
                        <a:t>RMSE</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B3A"/>
                    </a:solidFill>
                  </a:tcPr>
                </a:tc>
              </a:tr>
              <a:tr h="548640">
                <a:tc>
                  <a:txBody>
                    <a:bodyPr/>
                    <a:lstStyle/>
                    <a:p>
                      <a:pPr algn="l" indent="0" marL="0">
                        <a:buNone/>
                      </a:pPr>
                      <a:r>
                        <a:rPr lang="en-US" sz="1600" dirty="0">
                          <a:solidFill>
                            <a:srgbClr val="1B2A2F"/>
                          </a:solidFill>
                        </a:rPr>
                        <a:t>Baseline (mean)</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-0.001</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22.81</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26.43</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r>
              <a:tr h="548640">
                <a:tc>
                  <a:txBody>
                    <a:bodyPr/>
                    <a:lstStyle/>
                    <a:p>
                      <a:pPr algn="l" indent="0" marL="0">
                        <a:buNone/>
                      </a:pPr>
                      <a:r>
                        <a:rPr lang="en-US" sz="1600" dirty="0">
                          <a:solidFill>
                            <a:srgbClr val="1B2A2F"/>
                          </a:solidFill>
                        </a:rPr>
                        <a:t>Linear Regression</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-0.002</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22.81</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26.44</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r>
              <a:tr h="548640">
                <a:tc>
                  <a:txBody>
                    <a:bodyPr/>
                    <a:lstStyle/>
                    <a:p>
                      <a:pPr algn="l" indent="0" marL="0">
                        <a:buNone/>
                      </a:pPr>
                      <a:r>
                        <a:rPr lang="en-US" sz="1600" dirty="0">
                          <a:solidFill>
                            <a:srgbClr val="1B2A2F"/>
                          </a:solidFill>
                        </a:rPr>
                        <a:t>KNN</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-0.040</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23.03</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26.94</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r>
              <a:tr h="548640">
                <a:tc>
                  <a:txBody>
                    <a:bodyPr/>
                    <a:lstStyle/>
                    <a:p>
                      <a:pPr algn="l" indent="0" marL="0">
                        <a:buNone/>
                      </a:pPr>
                      <a:r>
                        <a:rPr lang="en-US" sz="1600" dirty="0">
                          <a:solidFill>
                            <a:srgbClr val="1B2A2F"/>
                          </a:solidFill>
                        </a:rPr>
                        <a:t>Decision Tree</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-0.034</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22.95</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c>
                  <a:txBody>
                    <a:bodyPr/>
                    <a:lstStyle/>
                    <a:p>
                      <a:pPr algn="ctr" indent="0" marL="0">
                        <a:buNone/>
                      </a:pPr>
                      <a:r>
                        <a:rPr lang="en-US" sz="1600" dirty="0">
                          <a:solidFill>
                            <a:srgbClr val="1B2A2F"/>
                          </a:solidFill>
                        </a:rPr>
                        <a:t>26.85</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1"/>
                    </a:solidFill>
                  </a:tcPr>
                </a:tc>
              </a:tr>
              <a:tr h="548640">
                <a:tc>
                  <a:txBody>
                    <a:bodyPr/>
                    <a:lstStyle/>
                    <a:p>
                      <a:pPr algn="l" indent="0" marL="0">
                        <a:buNone/>
                      </a:pPr>
                      <a:r>
                        <a:rPr lang="en-US" sz="1600" b="1" dirty="0">
                          <a:solidFill>
                            <a:srgbClr val="1B2A2F"/>
                          </a:solidFill>
                        </a:rPr>
                        <a:t>Random Forest</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F0E1"/>
                    </a:solidFill>
                  </a:tcPr>
                </a:tc>
                <a:tc>
                  <a:txBody>
                    <a:bodyPr/>
                    <a:lstStyle/>
                    <a:p>
                      <a:pPr algn="ctr" indent="0" marL="0">
                        <a:buNone/>
                      </a:pPr>
                      <a:r>
                        <a:rPr lang="en-US" sz="1600" b="1" dirty="0">
                          <a:solidFill>
                            <a:srgbClr val="1B2A2F"/>
                          </a:solidFill>
                        </a:rPr>
                        <a:t>-0.000</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F0E1"/>
                    </a:solidFill>
                  </a:tcPr>
                </a:tc>
                <a:tc>
                  <a:txBody>
                    <a:bodyPr/>
                    <a:lstStyle/>
                    <a:p>
                      <a:pPr algn="ctr" indent="0" marL="0">
                        <a:buNone/>
                      </a:pPr>
                      <a:r>
                        <a:rPr lang="en-US" sz="1600" b="1" dirty="0">
                          <a:solidFill>
                            <a:srgbClr val="1B2A2F"/>
                          </a:solidFill>
                        </a:rPr>
                        <a:t>22.75</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F0E1"/>
                    </a:solidFill>
                  </a:tcPr>
                </a:tc>
                <a:tc>
                  <a:txBody>
                    <a:bodyPr/>
                    <a:lstStyle/>
                    <a:p>
                      <a:pPr algn="ctr" indent="0" marL="0">
                        <a:buNone/>
                      </a:pPr>
                      <a:r>
                        <a:rPr lang="en-US" sz="1600" b="1" dirty="0">
                          <a:solidFill>
                            <a:srgbClr val="1B2A2F"/>
                          </a:solidFill>
                        </a:rPr>
                        <a:t>26.42</a:t>
                      </a:r>
                      <a:endParaRPr lang="en-US" sz="16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F0E1"/>
                    </a:solidFill>
                  </a:tcPr>
                </a:tc>
              </a:tr>
            </a:tbl>
          </a:graphicData>
        </a:graphic>
      </p:graphicFrame>
      <p:sp>
        <p:nvSpPr>
          <p:cNvPr id="17" name="Text 14"/>
          <p:cNvSpPr txBox="1"/>
          <p:nvPr/>
        </p:nvSpPr>
        <p:spPr>
          <a:xfrm>
            <a:off x="5212080" y="5349240"/>
            <a:ext cx="6400800" cy="457200"/>
          </a:xfrm>
          <a:prstGeom prst="rect">
            <a:avLst/>
          </a:prstGeom>
          <a:noFill/>
          <a:ln/>
        </p:spPr>
        <p:txBody>
          <a:bodyPr wrap="square" lIns="0" tIns="0" rIns="0" bIns="0" rtlCol="0" anchor="ctr"/>
          <a:lstStyle/>
          <a:p>
            <a:pPr indent="0" marL="0">
              <a:buNone/>
            </a:pPr>
            <a:r>
              <a:rPr lang="en-US" sz="1500" i="1" dirty="0">
                <a:solidFill>
                  <a:schemeClr val="accent3"/>
                </a:solidFill>
              </a:rPr>
              <a:t>Best model: Random Forest, but only 0.01 users/day better than the baseline.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Results: No Model Beats the Average</a:t>
            </a:r>
            <a:endParaRPr lang="en-US" sz="3400" dirty="0"/>
          </a:p>
        </p:txBody>
      </p:sp>
      <p:pic>
        <p:nvPicPr>
          <p:cNvPr id="3" name="RMSE chart" descr="/private/tmp/claude-501/-Users-vlad-Downloads-PA-CA-3/f5d5aa73-7ad0-488b-846d-2135acd18887/scratchpad/deck/img/rmse_comparison.png">    </p:cNvPr>
          <p:cNvPicPr>
            <a:picLocks noChangeAspect="1"/>
          </p:cNvPicPr>
          <p:nvPr/>
        </p:nvPicPr>
        <p:blipFill>
          <a:blip r:embed="rId1"/>
          <a:stretch>
            <a:fillRect/>
          </a:stretch>
        </p:blipFill>
        <p:spPr>
          <a:xfrm>
            <a:off x="548640" y="1371600"/>
            <a:ext cx="5852160" cy="3426323"/>
          </a:xfrm>
          <a:prstGeom prst="rect">
            <a:avLst/>
          </a:prstGeom>
        </p:spPr>
      </p:pic>
      <p:sp>
        <p:nvSpPr>
          <p:cNvPr id="4" name="Text 1"/>
          <p:cNvSpPr txBox="1"/>
          <p:nvPr/>
        </p:nvSpPr>
        <p:spPr>
          <a:xfrm>
            <a:off x="548640" y="4937760"/>
            <a:ext cx="5852160" cy="274320"/>
          </a:xfrm>
          <a:prstGeom prst="rect">
            <a:avLst/>
          </a:prstGeom>
          <a:noFill/>
          <a:ln/>
        </p:spPr>
        <p:txBody>
          <a:bodyPr wrap="square" lIns="0" tIns="0" rIns="0" bIns="0" rtlCol="0" anchor="ctr"/>
          <a:lstStyle/>
          <a:p>
            <a:pPr indent="0" marL="0">
              <a:buNone/>
            </a:pPr>
            <a:r>
              <a:rPr lang="en-US" sz="1100" i="1" dirty="0">
                <a:solidFill>
                  <a:schemeClr val="accent6"/>
                </a:solidFill>
              </a:rPr>
              <a:t>Axis zoomed in to show the tiny differences between models</a:t>
            </a:r>
            <a:endParaRPr lang="en-US" sz="1100" dirty="0"/>
          </a:p>
        </p:txBody>
      </p:sp>
      <p:pic>
        <p:nvPicPr>
          <p:cNvPr id="5" name="Actual vs predicted" descr="/private/tmp/claude-501/-Users-vlad-Downloads-PA-CA-3/f5d5aa73-7ad0-488b-846d-2135acd18887/scratchpad/deck/img/actual_vs_pred.png">    </p:cNvPr>
          <p:cNvPicPr>
            <a:picLocks noChangeAspect="1"/>
          </p:cNvPicPr>
          <p:nvPr/>
        </p:nvPicPr>
        <p:blipFill>
          <a:blip r:embed="rId2"/>
          <a:stretch>
            <a:fillRect/>
          </a:stretch>
        </p:blipFill>
        <p:spPr>
          <a:xfrm>
            <a:off x="6766560" y="1280160"/>
            <a:ext cx="3291840" cy="2612571"/>
          </a:xfrm>
          <a:prstGeom prst="rect">
            <a:avLst/>
          </a:prstGeom>
        </p:spPr>
      </p:pic>
      <p:sp>
        <p:nvSpPr>
          <p:cNvPr id="6" name="Text 2"/>
          <p:cNvSpPr txBox="1"/>
          <p:nvPr/>
        </p:nvSpPr>
        <p:spPr>
          <a:xfrm>
            <a:off x="10195560" y="1600200"/>
            <a:ext cx="1463040" cy="8229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R² ≈ 0</a:t>
            </a:r>
            <a:endParaRPr lang="en-US" sz="3600" dirty="0"/>
          </a:p>
        </p:txBody>
      </p:sp>
      <p:sp>
        <p:nvSpPr>
          <p:cNvPr id="7" name="Text 3"/>
          <p:cNvSpPr txBox="1"/>
          <p:nvPr/>
        </p:nvSpPr>
        <p:spPr>
          <a:xfrm>
            <a:off x="10195560" y="2423160"/>
            <a:ext cx="1463040" cy="548640"/>
          </a:xfrm>
          <a:prstGeom prst="rect">
            <a:avLst/>
          </a:prstGeom>
          <a:noFill/>
          <a:ln/>
        </p:spPr>
        <p:txBody>
          <a:bodyPr wrap="square" lIns="0" tIns="0" rIns="0" bIns="0" rtlCol="0" anchor="ctr"/>
          <a:lstStyle/>
          <a:p>
            <a:pPr indent="0" marL="0">
              <a:buNone/>
            </a:pPr>
            <a:r>
              <a:rPr lang="en-US" sz="1400" dirty="0">
                <a:solidFill>
                  <a:schemeClr val="tx1"/>
                </a:solidFill>
              </a:rPr>
              <a:t>for every model</a:t>
            </a:r>
            <a:endParaRPr lang="en-US" sz="1400" dirty="0"/>
          </a:p>
        </p:txBody>
      </p:sp>
      <p:sp>
        <p:nvSpPr>
          <p:cNvPr id="8" name="Text 4"/>
          <p:cNvSpPr txBox="1"/>
          <p:nvPr/>
        </p:nvSpPr>
        <p:spPr>
          <a:xfrm>
            <a:off x="6766560" y="4160520"/>
            <a:ext cx="4846320" cy="1280160"/>
          </a:xfrm>
          <a:prstGeom prst="rect">
            <a:avLst/>
          </a:prstGeom>
          <a:noFill/>
          <a:ln/>
        </p:spPr>
        <p:txBody>
          <a:bodyPr wrap="square" lIns="0" tIns="0" rIns="0" bIns="0" rtlCol="0" anchor="t"/>
          <a:lstStyle/>
          <a:p>
            <a:pPr indent="0" marL="0">
              <a:buNone/>
            </a:pPr>
            <a:r>
              <a:rPr lang="en-US" sz="1500" dirty="0">
                <a:solidFill>
                  <a:schemeClr val="tx1"/>
                </a:solidFill>
              </a:rPr>
              <a:t>Random Forest predictions sit in a flat band around 55 users/day, whatever the actual value. The model has learned to predict the average.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Interpretation: Why the Models Fail</a:t>
            </a:r>
            <a:endParaRPr lang="en-US" sz="3400" dirty="0"/>
          </a:p>
        </p:txBody>
      </p:sp>
      <p:pic>
        <p:nvPicPr>
          <p:cNvPr id="3" name="Feature importance" descr="/private/tmp/claude-501/-Users-vlad-Downloads-PA-CA-3/f5d5aa73-7ad0-488b-846d-2135acd18887/scratchpad/deck/img/feature_importance.png">    </p:cNvPr>
          <p:cNvPicPr>
            <a:picLocks noChangeAspect="1"/>
          </p:cNvPicPr>
          <p:nvPr/>
        </p:nvPicPr>
        <p:blipFill>
          <a:blip r:embed="rId1"/>
          <a:stretch>
            <a:fillRect/>
          </a:stretch>
        </p:blipFill>
        <p:spPr>
          <a:xfrm>
            <a:off x="548640" y="1325880"/>
            <a:ext cx="5852160" cy="2915874"/>
          </a:xfrm>
          <a:prstGeom prst="rect">
            <a:avLst/>
          </a:prstGeom>
        </p:spPr>
      </p:pic>
      <p:sp>
        <p:nvSpPr>
          <p:cNvPr id="4" name="Text 1"/>
          <p:cNvSpPr txBox="1"/>
          <p:nvPr/>
        </p:nvSpPr>
        <p:spPr>
          <a:xfrm>
            <a:off x="548640" y="4434840"/>
            <a:ext cx="5852160" cy="914400"/>
          </a:xfrm>
          <a:prstGeom prst="rect">
            <a:avLst/>
          </a:prstGeom>
          <a:noFill/>
          <a:ln/>
        </p:spPr>
        <p:txBody>
          <a:bodyPr wrap="square" lIns="0" tIns="0" rIns="0" bIns="0" rtlCol="0" anchor="t"/>
          <a:lstStyle/>
          <a:p>
            <a:pPr indent="0" marL="0">
              <a:buNone/>
            </a:pPr>
            <a:r>
              <a:rPr lang="en-US" sz="1400" i="1" dirty="0">
                <a:solidFill>
                  <a:schemeClr val="accent6"/>
                </a:solidFill>
              </a:rPr>
              <a:t>Distance, cost and rating rank highest, but only because numeric columns offer more split points. They are not real demand drivers.</a:t>
            </a:r>
            <a:endParaRPr lang="en-US" sz="1400" dirty="0"/>
          </a:p>
        </p:txBody>
      </p:sp>
      <p:sp>
        <p:nvSpPr>
          <p:cNvPr id="5" name="Interpretation 1"/>
          <p:cNvSpPr/>
          <p:nvPr/>
        </p:nvSpPr>
        <p:spPr>
          <a:xfrm>
            <a:off x="6766560" y="1325880"/>
            <a:ext cx="4846320" cy="1280160"/>
          </a:xfrm>
          <a:prstGeom prst="roundRect">
            <a:avLst>
              <a:gd name="adj" fmla="val 8571"/>
            </a:avLst>
          </a:prstGeom>
          <a:solidFill>
            <a:schemeClr val="bg2"/>
          </a:solidFill>
          <a:ln/>
        </p:spPr>
      </p:sp>
      <p:sp>
        <p:nvSpPr>
          <p:cNvPr id="6" name="Interpretation 1 circle"/>
          <p:cNvSpPr/>
          <p:nvPr/>
        </p:nvSpPr>
        <p:spPr>
          <a:xfrm>
            <a:off x="6949440" y="1600200"/>
            <a:ext cx="731520" cy="731520"/>
          </a:xfrm>
          <a:prstGeom prst="ellipse">
            <a:avLst/>
          </a:prstGeom>
          <a:solidFill>
            <a:schemeClr val="accent1"/>
          </a:solidFill>
          <a:ln/>
        </p:spPr>
      </p:sp>
      <p:pic>
        <p:nvPicPr>
          <p:cNvPr id="7" name="Interpretation 1 icon" descr="preencoded.png">    </p:cNvPr>
          <p:cNvPicPr>
            <a:picLocks noChangeAspect="1"/>
          </p:cNvPicPr>
          <p:nvPr/>
        </p:nvPicPr>
        <p:blipFill>
          <a:blip r:embed="rId2"/>
          <a:stretch>
            <a:fillRect/>
          </a:stretch>
        </p:blipFill>
        <p:spPr>
          <a:xfrm>
            <a:off x="7110374" y="1761134"/>
            <a:ext cx="409651" cy="409651"/>
          </a:xfrm>
          <a:prstGeom prst="rect">
            <a:avLst/>
          </a:prstGeom>
        </p:spPr>
      </p:pic>
      <p:sp>
        <p:nvSpPr>
          <p:cNvPr id="8" name="Text 4"/>
          <p:cNvSpPr txBox="1"/>
          <p:nvPr/>
        </p:nvSpPr>
        <p:spPr>
          <a:xfrm>
            <a:off x="7863840" y="1508760"/>
            <a:ext cx="3611880" cy="365760"/>
          </a:xfrm>
          <a:prstGeom prst="rect">
            <a:avLst/>
          </a:prstGeom>
          <a:noFill/>
          <a:ln/>
        </p:spPr>
        <p:txBody>
          <a:bodyPr wrap="square" lIns="0" tIns="0" rIns="0" bIns="0" rtlCol="0" anchor="ctr"/>
          <a:lstStyle/>
          <a:p>
            <a:pPr indent="0" marL="0">
              <a:buNone/>
            </a:pPr>
            <a:r>
              <a:rPr lang="en-US" sz="1700" b="1" dirty="0">
                <a:solidFill>
                  <a:schemeClr val="tx2"/>
                </a:solidFill>
              </a:rPr>
              <a:t>Consistent evidence</a:t>
            </a:r>
            <a:endParaRPr lang="en-US" sz="1700" dirty="0"/>
          </a:p>
        </p:txBody>
      </p:sp>
      <p:sp>
        <p:nvSpPr>
          <p:cNvPr id="9" name="Text 5"/>
          <p:cNvSpPr txBox="1"/>
          <p:nvPr/>
        </p:nvSpPr>
        <p:spPr>
          <a:xfrm>
            <a:off x="7863840" y="1874520"/>
            <a:ext cx="3611880" cy="640080"/>
          </a:xfrm>
          <a:prstGeom prst="rect">
            <a:avLst/>
          </a:prstGeom>
          <a:noFill/>
          <a:ln/>
        </p:spPr>
        <p:txBody>
          <a:bodyPr wrap="square" lIns="0" tIns="0" rIns="0" bIns="0" rtlCol="0" anchor="t"/>
          <a:lstStyle/>
          <a:p>
            <a:pPr indent="0" marL="0">
              <a:buNone/>
            </a:pPr>
            <a:r>
              <a:rPr lang="en-US" sz="1400" dirty="0">
                <a:solidFill>
                  <a:schemeClr val="tx1"/>
                </a:solidFill>
              </a:rPr>
              <a:t>EDA, four different models and the data quality check all point the same way</a:t>
            </a:r>
            <a:endParaRPr lang="en-US" sz="1400" dirty="0"/>
          </a:p>
        </p:txBody>
      </p:sp>
      <p:sp>
        <p:nvSpPr>
          <p:cNvPr id="10" name="Interpretation 2"/>
          <p:cNvSpPr/>
          <p:nvPr/>
        </p:nvSpPr>
        <p:spPr>
          <a:xfrm>
            <a:off x="6766560" y="2834640"/>
            <a:ext cx="4846320" cy="1280160"/>
          </a:xfrm>
          <a:prstGeom prst="roundRect">
            <a:avLst>
              <a:gd name="adj" fmla="val 8571"/>
            </a:avLst>
          </a:prstGeom>
          <a:solidFill>
            <a:schemeClr val="bg2"/>
          </a:solidFill>
          <a:ln/>
        </p:spPr>
      </p:sp>
      <p:sp>
        <p:nvSpPr>
          <p:cNvPr id="11" name="Interpretation 2 circle"/>
          <p:cNvSpPr/>
          <p:nvPr/>
        </p:nvSpPr>
        <p:spPr>
          <a:xfrm>
            <a:off x="6949440" y="3108960"/>
            <a:ext cx="731520" cy="731520"/>
          </a:xfrm>
          <a:prstGeom prst="ellipse">
            <a:avLst/>
          </a:prstGeom>
          <a:solidFill>
            <a:schemeClr val="accent2"/>
          </a:solidFill>
          <a:ln/>
        </p:spPr>
      </p:sp>
      <p:pic>
        <p:nvPicPr>
          <p:cNvPr id="12" name="Interpretation 2 icon" descr="preencoded.png">    </p:cNvPr>
          <p:cNvPicPr>
            <a:picLocks noChangeAspect="1"/>
          </p:cNvPicPr>
          <p:nvPr/>
        </p:nvPicPr>
        <p:blipFill>
          <a:blip r:embed="rId3"/>
          <a:stretch>
            <a:fillRect/>
          </a:stretch>
        </p:blipFill>
        <p:spPr>
          <a:xfrm>
            <a:off x="7110374" y="3269894"/>
            <a:ext cx="409651" cy="409651"/>
          </a:xfrm>
          <a:prstGeom prst="rect">
            <a:avLst/>
          </a:prstGeom>
        </p:spPr>
      </p:pic>
      <p:sp>
        <p:nvSpPr>
          <p:cNvPr id="13" name="Text 8"/>
          <p:cNvSpPr txBox="1"/>
          <p:nvPr/>
        </p:nvSpPr>
        <p:spPr>
          <a:xfrm>
            <a:off x="7863840" y="3017520"/>
            <a:ext cx="3611880" cy="365760"/>
          </a:xfrm>
          <a:prstGeom prst="rect">
            <a:avLst/>
          </a:prstGeom>
          <a:noFill/>
          <a:ln/>
        </p:spPr>
        <p:txBody>
          <a:bodyPr wrap="square" lIns="0" tIns="0" rIns="0" bIns="0" rtlCol="0" anchor="ctr"/>
          <a:lstStyle/>
          <a:p>
            <a:pPr indent="0" marL="0">
              <a:buNone/>
            </a:pPr>
            <a:r>
              <a:rPr lang="en-US" sz="1700" b="1" dirty="0">
                <a:solidFill>
                  <a:schemeClr val="tx2"/>
                </a:solidFill>
              </a:rPr>
              <a:t>Root cause: the data</a:t>
            </a:r>
            <a:endParaRPr lang="en-US" sz="1700" dirty="0"/>
          </a:p>
        </p:txBody>
      </p:sp>
      <p:sp>
        <p:nvSpPr>
          <p:cNvPr id="14" name="Text 9"/>
          <p:cNvSpPr txBox="1"/>
          <p:nvPr/>
        </p:nvSpPr>
        <p:spPr>
          <a:xfrm>
            <a:off x="7863840" y="3383280"/>
            <a:ext cx="3611880" cy="640080"/>
          </a:xfrm>
          <a:prstGeom prst="rect">
            <a:avLst/>
          </a:prstGeom>
          <a:noFill/>
          <a:ln/>
        </p:spPr>
        <p:txBody>
          <a:bodyPr wrap="square" lIns="0" tIns="0" rIns="0" bIns="0" rtlCol="0" anchor="t"/>
          <a:lstStyle/>
          <a:p>
            <a:pPr indent="0" marL="0">
              <a:buNone/>
            </a:pPr>
            <a:r>
              <a:rPr lang="en-US" sz="1400" dirty="0">
                <a:solidFill>
                  <a:schemeClr val="tx1"/>
                </a:solidFill>
              </a:rPr>
              <a:t>Features are random and independent of usage, so there is no pattern to learn</a:t>
            </a:r>
            <a:endParaRPr lang="en-US" sz="1400" dirty="0"/>
          </a:p>
        </p:txBody>
      </p:sp>
      <p:sp>
        <p:nvSpPr>
          <p:cNvPr id="15" name="Interpretation 3"/>
          <p:cNvSpPr/>
          <p:nvPr/>
        </p:nvSpPr>
        <p:spPr>
          <a:xfrm>
            <a:off x="6766560" y="4343400"/>
            <a:ext cx="4846320" cy="1280160"/>
          </a:xfrm>
          <a:prstGeom prst="roundRect">
            <a:avLst>
              <a:gd name="adj" fmla="val 8571"/>
            </a:avLst>
          </a:prstGeom>
          <a:solidFill>
            <a:schemeClr val="bg2"/>
          </a:solidFill>
          <a:ln/>
        </p:spPr>
      </p:sp>
      <p:sp>
        <p:nvSpPr>
          <p:cNvPr id="16" name="Interpretation 3 circle"/>
          <p:cNvSpPr/>
          <p:nvPr/>
        </p:nvSpPr>
        <p:spPr>
          <a:xfrm>
            <a:off x="6949440" y="4617720"/>
            <a:ext cx="731520" cy="731520"/>
          </a:xfrm>
          <a:prstGeom prst="ellipse">
            <a:avLst/>
          </a:prstGeom>
          <a:solidFill>
            <a:schemeClr val="accent1"/>
          </a:solidFill>
          <a:ln/>
        </p:spPr>
      </p:sp>
      <p:pic>
        <p:nvPicPr>
          <p:cNvPr id="17" name="Interpretation 3 icon" descr="preencoded.png">    </p:cNvPr>
          <p:cNvPicPr>
            <a:picLocks noChangeAspect="1"/>
          </p:cNvPicPr>
          <p:nvPr/>
        </p:nvPicPr>
        <p:blipFill>
          <a:blip r:embed="rId4"/>
          <a:stretch>
            <a:fillRect/>
          </a:stretch>
        </p:blipFill>
        <p:spPr>
          <a:xfrm>
            <a:off x="7110374" y="4778654"/>
            <a:ext cx="409651" cy="409651"/>
          </a:xfrm>
          <a:prstGeom prst="rect">
            <a:avLst/>
          </a:prstGeom>
        </p:spPr>
      </p:pic>
      <p:sp>
        <p:nvSpPr>
          <p:cNvPr id="18" name="Text 12"/>
          <p:cNvSpPr txBox="1"/>
          <p:nvPr/>
        </p:nvSpPr>
        <p:spPr>
          <a:xfrm>
            <a:off x="7863840" y="4526280"/>
            <a:ext cx="3611880" cy="365760"/>
          </a:xfrm>
          <a:prstGeom prst="rect">
            <a:avLst/>
          </a:prstGeom>
          <a:noFill/>
          <a:ln/>
        </p:spPr>
        <p:txBody>
          <a:bodyPr wrap="square" lIns="0" tIns="0" rIns="0" bIns="0" rtlCol="0" anchor="ctr"/>
          <a:lstStyle/>
          <a:p>
            <a:pPr indent="0" marL="0">
              <a:buNone/>
            </a:pPr>
            <a:r>
              <a:rPr lang="en-US" sz="1700" b="1" dirty="0">
                <a:solidFill>
                  <a:schemeClr val="tx2"/>
                </a:solidFill>
              </a:rPr>
              <a:t>Value of KDD</a:t>
            </a:r>
            <a:endParaRPr lang="en-US" sz="1700" dirty="0"/>
          </a:p>
        </p:txBody>
      </p:sp>
      <p:sp>
        <p:nvSpPr>
          <p:cNvPr id="19" name="Text 13"/>
          <p:cNvSpPr txBox="1"/>
          <p:nvPr/>
        </p:nvSpPr>
        <p:spPr>
          <a:xfrm>
            <a:off x="7863840" y="4892040"/>
            <a:ext cx="3611880" cy="640080"/>
          </a:xfrm>
          <a:prstGeom prst="rect">
            <a:avLst/>
          </a:prstGeom>
          <a:noFill/>
          <a:ln/>
        </p:spPr>
        <p:txBody>
          <a:bodyPr wrap="square" lIns="0" tIns="0" rIns="0" bIns="0" rtlCol="0" anchor="t"/>
          <a:lstStyle/>
          <a:p>
            <a:pPr indent="0" marL="0">
              <a:buNone/>
            </a:pPr>
            <a:r>
              <a:rPr lang="en-US" sz="1400" dirty="0">
                <a:solidFill>
                  <a:schemeClr val="tx1"/>
                </a:solidFill>
              </a:rPr>
              <a:t>The process caught the problem early and the baseline stopped a misleading claim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Text 1"/>
          <p:cNvSpPr txBox="1"/>
          <p:nvPr/>
        </p:nvSpPr>
        <p:spPr>
          <a:xfrm>
            <a:off x="548640" y="1234440"/>
            <a:ext cx="11064240" cy="548640"/>
          </a:xfrm>
          <a:prstGeom prst="rect">
            <a:avLst/>
          </a:prstGeom>
          <a:noFill/>
          <a:ln/>
        </p:spPr>
        <p:txBody>
          <a:bodyPr wrap="square" lIns="0" tIns="0" rIns="0" bIns="0" rtlCol="0" anchor="ctr"/>
          <a:lstStyle/>
          <a:p>
            <a:pPr indent="0" marL="0">
              <a:buNone/>
            </a:pPr>
            <a:r>
              <a:rPr lang="en-US" sz="2400" i="1" dirty="0">
                <a:solidFill>
                  <a:schemeClr val="accent1"/>
                </a:solidFill>
                <a:latin typeface="Cambria" pitchFamily="34" charset="0"/>
                <a:ea typeface="Cambria" pitchFamily="34" charset="-122"/>
                <a:cs typeface="Cambria" pitchFamily="34" charset="-120"/>
              </a:rPr>
              <a:t>A model is only as good as its data</a:t>
            </a:r>
            <a:endParaRPr lang="en-US" sz="2400" dirty="0"/>
          </a:p>
        </p:txBody>
      </p:sp>
      <p:sp>
        <p:nvSpPr>
          <p:cNvPr id="4" name="Conclusion card 1"/>
          <p:cNvSpPr/>
          <p:nvPr/>
        </p:nvSpPr>
        <p:spPr>
          <a:xfrm>
            <a:off x="548640" y="2057400"/>
            <a:ext cx="3474720" cy="2011680"/>
          </a:xfrm>
          <a:prstGeom prst="roundRect">
            <a:avLst>
              <a:gd name="adj" fmla="val 5455"/>
            </a:avLst>
          </a:prstGeom>
          <a:solidFill>
            <a:srgbClr val="174B49"/>
          </a:solidFill>
          <a:ln/>
        </p:spPr>
      </p:sp>
      <p:sp>
        <p:nvSpPr>
          <p:cNvPr id="5" name="Text 3"/>
          <p:cNvSpPr txBox="1"/>
          <p:nvPr/>
        </p:nvSpPr>
        <p:spPr>
          <a:xfrm>
            <a:off x="777240" y="2240280"/>
            <a:ext cx="3017520" cy="411480"/>
          </a:xfrm>
          <a:prstGeom prst="rect">
            <a:avLst/>
          </a:prstGeom>
          <a:noFill/>
          <a:ln/>
        </p:spPr>
        <p:txBody>
          <a:bodyPr wrap="square" lIns="0" tIns="0" rIns="0" bIns="0" rtlCol="0" anchor="ctr"/>
          <a:lstStyle/>
          <a:p>
            <a:pPr indent="0" marL="0">
              <a:buNone/>
            </a:pPr>
            <a:r>
              <a:rPr lang="en-US" sz="1800" b="1" dirty="0">
                <a:solidFill>
                  <a:schemeClr val="accent1"/>
                </a:solidFill>
              </a:rPr>
              <a:t>What was done</a:t>
            </a:r>
            <a:endParaRPr lang="en-US" sz="1800" dirty="0"/>
          </a:p>
        </p:txBody>
      </p:sp>
      <p:sp>
        <p:nvSpPr>
          <p:cNvPr id="6" name="Text 4"/>
          <p:cNvSpPr txBox="1"/>
          <p:nvPr/>
        </p:nvSpPr>
        <p:spPr>
          <a:xfrm>
            <a:off x="777240" y="2697480"/>
            <a:ext cx="3017520" cy="1280160"/>
          </a:xfrm>
          <a:prstGeom prst="rect">
            <a:avLst/>
          </a:prstGeom>
          <a:noFill/>
          <a:ln/>
        </p:spPr>
        <p:txBody>
          <a:bodyPr wrap="square" lIns="0" tIns="0" rIns="0" bIns="0" rtlCol="0" anchor="t"/>
          <a:lstStyle/>
          <a:p>
            <a:pPr indent="0" marL="0">
              <a:buNone/>
            </a:pPr>
            <a:r>
              <a:rPr lang="en-US" sz="1500" dirty="0">
                <a:solidFill>
                  <a:schemeClr val="bg1"/>
                </a:solidFill>
              </a:rPr>
              <a:t>Applied every KDD stage: selection, preprocessing, transformation, modelling and evaluation</a:t>
            </a:r>
            <a:endParaRPr lang="en-US" sz="1500" dirty="0"/>
          </a:p>
        </p:txBody>
      </p:sp>
      <p:sp>
        <p:nvSpPr>
          <p:cNvPr id="7" name="Conclusion card 2"/>
          <p:cNvSpPr/>
          <p:nvPr/>
        </p:nvSpPr>
        <p:spPr>
          <a:xfrm>
            <a:off x="4297680" y="2057400"/>
            <a:ext cx="3474720" cy="2011680"/>
          </a:xfrm>
          <a:prstGeom prst="roundRect">
            <a:avLst>
              <a:gd name="adj" fmla="val 5455"/>
            </a:avLst>
          </a:prstGeom>
          <a:solidFill>
            <a:srgbClr val="174B49"/>
          </a:solidFill>
          <a:ln/>
        </p:spPr>
      </p:sp>
      <p:sp>
        <p:nvSpPr>
          <p:cNvPr id="8" name="Text 6"/>
          <p:cNvSpPr txBox="1"/>
          <p:nvPr/>
        </p:nvSpPr>
        <p:spPr>
          <a:xfrm>
            <a:off x="4526280" y="2240280"/>
            <a:ext cx="3017520" cy="411480"/>
          </a:xfrm>
          <a:prstGeom prst="rect">
            <a:avLst/>
          </a:prstGeom>
          <a:noFill/>
          <a:ln/>
        </p:spPr>
        <p:txBody>
          <a:bodyPr wrap="square" lIns="0" tIns="0" rIns="0" bIns="0" rtlCol="0" anchor="ctr"/>
          <a:lstStyle/>
          <a:p>
            <a:pPr indent="0" marL="0">
              <a:buNone/>
            </a:pPr>
            <a:r>
              <a:rPr lang="en-US" sz="1800" b="1" dirty="0">
                <a:solidFill>
                  <a:schemeClr val="accent1"/>
                </a:solidFill>
              </a:rPr>
              <a:t>What was found</a:t>
            </a:r>
            <a:endParaRPr lang="en-US" sz="1800" dirty="0"/>
          </a:p>
        </p:txBody>
      </p:sp>
      <p:sp>
        <p:nvSpPr>
          <p:cNvPr id="9" name="Text 7"/>
          <p:cNvSpPr txBox="1"/>
          <p:nvPr/>
        </p:nvSpPr>
        <p:spPr>
          <a:xfrm>
            <a:off x="4526280" y="2697480"/>
            <a:ext cx="3017520" cy="1280160"/>
          </a:xfrm>
          <a:prstGeom prst="rect">
            <a:avLst/>
          </a:prstGeom>
          <a:noFill/>
          <a:ln/>
        </p:spPr>
        <p:txBody>
          <a:bodyPr wrap="square" lIns="0" tIns="0" rIns="0" bIns="0" rtlCol="0" anchor="t"/>
          <a:lstStyle/>
          <a:p>
            <a:pPr indent="0" marL="0">
              <a:buNone/>
            </a:pPr>
            <a:r>
              <a:rPr lang="en-US" sz="1500" dirty="0">
                <a:solidFill>
                  <a:schemeClr val="bg1"/>
                </a:solidFill>
              </a:rPr>
              <a:t>Best model (Random Forest) RMSE 26.42 vs 26.43 baseline; R² ≈ 0 for all models</a:t>
            </a:r>
            <a:endParaRPr lang="en-US" sz="1500" dirty="0"/>
          </a:p>
        </p:txBody>
      </p:sp>
      <p:sp>
        <p:nvSpPr>
          <p:cNvPr id="10" name="Conclusion card 3"/>
          <p:cNvSpPr/>
          <p:nvPr/>
        </p:nvSpPr>
        <p:spPr>
          <a:xfrm>
            <a:off x="8046720" y="2057400"/>
            <a:ext cx="3474720" cy="2011680"/>
          </a:xfrm>
          <a:prstGeom prst="roundRect">
            <a:avLst>
              <a:gd name="adj" fmla="val 5455"/>
            </a:avLst>
          </a:prstGeom>
          <a:solidFill>
            <a:srgbClr val="174B49"/>
          </a:solidFill>
          <a:ln/>
        </p:spPr>
      </p:sp>
      <p:sp>
        <p:nvSpPr>
          <p:cNvPr id="11" name="Text 9"/>
          <p:cNvSpPr txBox="1"/>
          <p:nvPr/>
        </p:nvSpPr>
        <p:spPr>
          <a:xfrm>
            <a:off x="8275320" y="2240280"/>
            <a:ext cx="3017520" cy="411480"/>
          </a:xfrm>
          <a:prstGeom prst="rect">
            <a:avLst/>
          </a:prstGeom>
          <a:noFill/>
          <a:ln/>
        </p:spPr>
        <p:txBody>
          <a:bodyPr wrap="square" lIns="0" tIns="0" rIns="0" bIns="0" rtlCol="0" anchor="ctr"/>
          <a:lstStyle/>
          <a:p>
            <a:pPr indent="0" marL="0">
              <a:buNone/>
            </a:pPr>
            <a:r>
              <a:rPr lang="en-US" sz="1800" b="1" dirty="0">
                <a:solidFill>
                  <a:schemeClr val="accent1"/>
                </a:solidFill>
              </a:rPr>
              <a:t>What it means</a:t>
            </a:r>
            <a:endParaRPr lang="en-US" sz="1800" dirty="0"/>
          </a:p>
        </p:txBody>
      </p:sp>
      <p:sp>
        <p:nvSpPr>
          <p:cNvPr id="12" name="Text 10"/>
          <p:cNvSpPr txBox="1"/>
          <p:nvPr/>
        </p:nvSpPr>
        <p:spPr>
          <a:xfrm>
            <a:off x="8275320" y="2697480"/>
            <a:ext cx="3017520" cy="1280160"/>
          </a:xfrm>
          <a:prstGeom prst="rect">
            <a:avLst/>
          </a:prstGeom>
          <a:noFill/>
          <a:ln/>
        </p:spPr>
        <p:txBody>
          <a:bodyPr wrap="square" lIns="0" tIns="0" rIns="0" bIns="0" rtlCol="0" anchor="t"/>
          <a:lstStyle/>
          <a:p>
            <a:pPr indent="0" marL="0">
              <a:buNone/>
            </a:pPr>
            <a:r>
              <a:rPr lang="en-US" sz="1500" dirty="0">
                <a:solidFill>
                  <a:schemeClr val="bg1"/>
                </a:solidFill>
              </a:rPr>
              <a:t>The dataset appears synthetic, so station demand cannot be predicted from it</a:t>
            </a:r>
            <a:endParaRPr lang="en-US" sz="1500" dirty="0"/>
          </a:p>
        </p:txBody>
      </p:sp>
      <p:sp>
        <p:nvSpPr>
          <p:cNvPr id="13" name="Text 11"/>
          <p:cNvSpPr txBox="1"/>
          <p:nvPr/>
        </p:nvSpPr>
        <p:spPr>
          <a:xfrm>
            <a:off x="548640" y="4389120"/>
            <a:ext cx="11064240" cy="411480"/>
          </a:xfrm>
          <a:prstGeom prst="rect">
            <a:avLst/>
          </a:prstGeom>
          <a:noFill/>
          <a:ln/>
        </p:spPr>
        <p:txBody>
          <a:bodyPr wrap="square" lIns="0" tIns="0" rIns="0" bIns="0" rtlCol="0" anchor="ctr"/>
          <a:lstStyle/>
          <a:p>
            <a:pPr indent="0" marL="0">
              <a:buNone/>
            </a:pPr>
            <a:r>
              <a:rPr lang="en-US" sz="1800" b="1" dirty="0">
                <a:solidFill>
                  <a:schemeClr val="bg1"/>
                </a:solidFill>
              </a:rPr>
              <a:t>Future work</a:t>
            </a:r>
            <a:endParaRPr lang="en-US" sz="1800" dirty="0"/>
          </a:p>
        </p:txBody>
      </p:sp>
      <p:sp>
        <p:nvSpPr>
          <p:cNvPr id="14" name="Text 12"/>
          <p:cNvSpPr txBox="1"/>
          <p:nvPr/>
        </p:nvSpPr>
        <p:spPr>
          <a:xfrm>
            <a:off x="548640" y="4846320"/>
            <a:ext cx="1106424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Use real charging-session data (e.g. open city EV charging datasets)</a:t>
            </a:r>
            <a:endParaRPr lang="en-US" sz="1600" dirty="0"/>
          </a:p>
          <a:p>
            <a:pPr marL="342900" indent="-342900">
              <a:spcAft>
                <a:spcPts val="600"/>
              </a:spcAft>
              <a:buSzPct val="100000"/>
              <a:buChar char="•"/>
            </a:pPr>
            <a:r>
              <a:rPr lang="en-US" sz="1600" dirty="0">
                <a:solidFill>
                  <a:schemeClr val="bg1"/>
                </a:solidFill>
              </a:rPr>
              <a:t>Add context: population density, EV registrations, traffic, nearby shops</a:t>
            </a:r>
            <a:endParaRPr lang="en-US" sz="1600" dirty="0"/>
          </a:p>
          <a:p>
            <a:pPr marL="342900" indent="-342900">
              <a:spcAft>
                <a:spcPts val="600"/>
              </a:spcAft>
              <a:buSzPct val="100000"/>
              <a:buChar char="•"/>
            </a:pPr>
            <a:r>
              <a:rPr lang="en-US" sz="1600" dirty="0">
                <a:solidFill>
                  <a:schemeClr val="bg1"/>
                </a:solidFill>
              </a:rPr>
              <a:t>Forecast demand over time once time-stamped data is available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EV Demand">
  <a:themeElements>
    <a:clrScheme name="EV Demand">
      <a:dk1>
        <a:srgbClr val="1B2A2F"/>
      </a:dk1>
      <a:lt1>
        <a:srgbClr val="FFFFFF"/>
      </a:lt1>
      <a:dk2>
        <a:srgbClr val="0F3B3A"/>
      </a:dk2>
      <a:lt2>
        <a:srgbClr val="EAF3F1"/>
      </a:lt2>
      <a:accent1>
        <a:srgbClr val="1FAA6B"/>
      </a:accent1>
      <a:accent2>
        <a:srgbClr val="F2A33A"/>
      </a:accent2>
      <a:accent3>
        <a:srgbClr val="2E6F8E"/>
      </a:accent3>
      <a:accent4>
        <a:srgbClr val="7FB8A4"/>
      </a:accent4>
      <a:accent5>
        <a:srgbClr val="C8553D"/>
      </a:accent5>
      <a:accent6>
        <a:srgbClr val="8A9BA0"/>
      </a:accent6>
      <a:hlink>
        <a:srgbClr val="2E6F8E"/>
      </a:hlink>
      <a:folHlink>
        <a:srgbClr val="7FB8A4"/>
      </a:folHlink>
    </a:clrScheme>
    <a:fontScheme name="EV Deman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EV Charging Station Demand</dc:title>
  <dc:subject>PptxGenJS Presentation</dc:subject>
  <dc:creator>Vladlen Rebello</dc:creator>
  <cp:lastModifiedBy>Vladlen Rebello</cp:lastModifiedBy>
  <cp:revision>1</cp:revision>
  <dcterms:created xsi:type="dcterms:W3CDTF">2026-10-12T13:52:19Z</dcterms:created>
  <dcterms:modified xsi:type="dcterms:W3CDTF">2026-10-12T13:52:19Z</dcterms:modified>
</cp:coreProperties>
</file>